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o enquadramento: não é um plano de emergência, é o plano que a gente já ia executar — só que agora sem esperar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1.png"/><Relationship Id="rId7" Type="http://schemas.openxmlformats.org/officeDocument/2006/relationships/image" Target="../media/image-5-7.png"/><Relationship Id="rId8" Type="http://schemas.openxmlformats.org/officeDocument/2006/relationships/image" Target="../media/image-5-1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0.png">    </p:cNvPr>
          <p:cNvPicPr>
            <a:picLocks noChangeAspect="1"/>
          </p:cNvPicPr>
          <p:nvPr/>
        </p:nvPicPr>
        <p:blipFill>
          <a:blip r:embed="rId1">
            <a:alphaModFix amt="86000"/>
          </a:blip>
          <a:stretch>
            <a:fillRect/>
          </a:stretch>
        </p:blipFill>
        <p:spPr>
          <a:xfrm>
            <a:off x="-1737360" y="4983480"/>
            <a:ext cx="3291840" cy="3291840"/>
          </a:xfrm>
          <a:prstGeom prst="rect">
            <a:avLst/>
          </a:prstGeom>
        </p:spPr>
      </p:pic>
      <p:pic>
        <p:nvPicPr>
          <p:cNvPr id="3" name="Image 1" descr="assets/blob-yellow-2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0241280" y="4754880"/>
            <a:ext cx="3108960" cy="3108960"/>
          </a:xfrm>
          <a:prstGeom prst="rect">
            <a:avLst/>
          </a:prstGeom>
        </p:spPr>
      </p:pic>
      <p:pic>
        <p:nvPicPr>
          <p:cNvPr id="4" name="Image 2" descr="assets/blob-blue-1.png">    </p:cNvPr>
          <p:cNvPicPr>
            <a:picLocks noChangeAspect="1"/>
          </p:cNvPicPr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10789920" y="-1188720"/>
            <a:ext cx="2651760" cy="2651760"/>
          </a:xfrm>
          <a:prstGeom prst="rect">
            <a:avLst/>
          </a:prstGeom>
        </p:spPr>
      </p:pic>
      <p:pic>
        <p:nvPicPr>
          <p:cNvPr id="5" name="Image 3" descr="assets/logo-cri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85800"/>
            <a:ext cx="1691640" cy="9235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-120000">
            <a:off x="822960" y="196596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7140F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SEM DEPENDER DE INVESTIDOR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777240" y="25146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plano dos
</a:t>
            </a:r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próximos 90 dias</a:t>
            </a:r>
            <a:endParaRPr lang="en-US" sz="5000" dirty="0"/>
          </a:p>
        </p:txBody>
      </p:sp>
      <p:sp>
        <p:nvSpPr>
          <p:cNvPr id="8" name="Text 2"/>
          <p:cNvSpPr/>
          <p:nvPr/>
        </p:nvSpPr>
        <p:spPr>
          <a:xfrm>
            <a:off x="822960" y="438912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gente coloca o CRIA de pé com as próprias pernas, junta os primeiros assinantes pagantes e chega em janeiro com prova na mão — e não com promessa.</a:t>
            </a:r>
            <a:endParaRPr lang="en-US" sz="1450" dirty="0"/>
          </a:p>
        </p:txBody>
      </p:sp>
      <p:sp>
        <p:nvSpPr>
          <p:cNvPr id="9" name="Shape 3"/>
          <p:cNvSpPr/>
          <p:nvPr/>
        </p:nvSpPr>
        <p:spPr>
          <a:xfrm>
            <a:off x="8366760" y="2377440"/>
            <a:ext cx="31089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0" name="Text 4"/>
          <p:cNvSpPr/>
          <p:nvPr/>
        </p:nvSpPr>
        <p:spPr>
          <a:xfrm>
            <a:off x="868680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 1º de outubro a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68680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31 de dezembro</a:t>
            </a:r>
            <a:endParaRPr lang="en-US" sz="2100" dirty="0"/>
          </a:p>
        </p:txBody>
      </p:sp>
      <p:sp>
        <p:nvSpPr>
          <p:cNvPr id="12" name="Shape 6"/>
          <p:cNvSpPr/>
          <p:nvPr/>
        </p:nvSpPr>
        <p:spPr>
          <a:xfrm>
            <a:off x="8686800" y="3474720"/>
            <a:ext cx="2468880" cy="0"/>
          </a:xfrm>
          <a:prstGeom prst="line">
            <a:avLst/>
          </a:prstGeom>
          <a:noFill/>
          <a:ln w="25400">
            <a:solidFill>
              <a:srgbClr val="E9E2D2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686800" y="36393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 &amp; Gabriela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 Estúdio</a:t>
            </a:r>
            <a:endParaRPr lang="en-US" sz="1300" dirty="0"/>
          </a:p>
        </p:txBody>
      </p:sp>
      <p:pic>
        <p:nvPicPr>
          <p:cNvPr id="14" name="Image 4" descr="assets/st-cluamarel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434840"/>
            <a:ext cx="1051560" cy="1051560"/>
          </a:xfrm>
          <a:prstGeom prst="rect">
            <a:avLst/>
          </a:prstGeom>
        </p:spPr>
      </p:pic>
      <p:pic>
        <p:nvPicPr>
          <p:cNvPr id="15" name="Image 5" descr="assets/st-lampad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54864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GENTE ESTÁ HOJE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“não” do Márcio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não foi sobre o CRIA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7" name="Image 0" descr="assets/blob-blu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57400"/>
            <a:ext cx="713232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41" y="2257105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9536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ele disse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9536" y="340156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“Fiquei muito interessado”, “acredito de verdade no potencial”, “é só por isso mesmo”. O não foi sobre a vida dele naquele momento — saúde e excesso de compromisso —, não sobre o projeto.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06824" y="178308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2" name="Image 2" descr="assets/blob-yellow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057400"/>
            <a:ext cx="713232" cy="71323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137" y="2257105"/>
            <a:ext cx="313822" cy="3138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99432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a gente faz com isso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599432" y="340156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 contato e volta a conversar daqui uns 6 meses, quando ele estiver melhor e a gente tiver número pra mostrar. Relação boa não se queima, se deixa esfriando no ponto certo.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046720" y="178308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7" name="Image 4" descr="assets/blob-orange-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057400"/>
            <a:ext cx="713232" cy="71323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033" y="2257105"/>
            <a:ext cx="313822" cy="3138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39328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trava de verdade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339328" y="340156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ele. É o CRIA ainda não ter ninguém pagando. Investidor, banco e edital fazem todos a mesma pergunta: quantas pessoas já pagam? Hoje a resposta é projeção.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566928" y="5230368"/>
            <a:ext cx="11055096" cy="777240"/>
          </a:xfrm>
          <a:prstGeom prst="roundRect">
            <a:avLst>
              <a:gd name="adj" fmla="val 16471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não existir gente pagando, </a:t>
            </a:r>
            <a:pPr algn="ctr" indent="0" marL="0">
              <a:buNone/>
            </a:pPr>
            <a:r>
              <a:rPr lang="en-US" sz="13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conversa sobre dinheiro vai ser sobre o que a gente acha — não sobre o que está acontecendo.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1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9966960" y="448056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4597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DOS 90 DIAS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meta não é faturar.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É ter prova.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66928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Nesses três meses a gente não está atrás de lucro. Está atrás de três coisas que hoje a gente não tem — e que valem mais que dinheiro na hora de pedir dinheiro.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6974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9" name="Image 1" descr="assets/blob-orang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26080"/>
            <a:ext cx="566928" cy="56692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88" y="3084820"/>
            <a:ext cx="249448" cy="2494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2768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185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841248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assinantes pagando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41248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fundadores + 85 vindos de anúncio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06824" y="26974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5" name="Image 3" descr="assets/blob-blu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926080"/>
            <a:ext cx="566928" cy="56692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884" y="3084820"/>
            <a:ext cx="249448" cy="249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12664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R$ 20 mil</a:t>
            </a:r>
            <a:endParaRPr lang="en-US" sz="2600" dirty="0"/>
          </a:p>
        </p:txBody>
      </p:sp>
      <p:sp>
        <p:nvSpPr>
          <p:cNvPr id="18" name="Text 11"/>
          <p:cNvSpPr/>
          <p:nvPr/>
        </p:nvSpPr>
        <p:spPr>
          <a:xfrm>
            <a:off x="4581144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caixa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81144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sócio, sem dívida, sem juros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046720" y="26974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1" name="Image 5" descr="assets/blob-green-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926080"/>
            <a:ext cx="566928" cy="566928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9780" y="3084820"/>
            <a:ext cx="249448" cy="2494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05256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números</a:t>
            </a:r>
            <a:endParaRPr lang="en-US" sz="2600" dirty="0"/>
          </a:p>
        </p:txBody>
      </p:sp>
      <p:sp>
        <p:nvSpPr>
          <p:cNvPr id="24" name="Text 15"/>
          <p:cNvSpPr/>
          <p:nvPr/>
        </p:nvSpPr>
        <p:spPr>
          <a:xfrm>
            <a:off x="83210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reais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8321040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assinante, conversão e cancelamento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566928" y="4892040"/>
            <a:ext cx="11055096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 rot="-180000">
            <a:off x="868680" y="47091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É ISSO QUE MUDA TUDO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esses números na mão, a gente deixa de pedir dinheiro pra provar uma ideia e passa a pedir dinheiro pra acelerar uma coisa que já funciona. Muda o preço da conversa, muda quanto de empresa a gente precisa entregar, muda quem senta na mesa.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891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Três frentes rodando </a:t>
            </a:r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ao mesmo tempo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7" name="Image 0" descr="assets/blob-oran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3852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1938528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9536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Pré-venda de fundadores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9536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100 assinaturas anuais com desconto, antes de gastar em anúncio.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9536" y="4160520"/>
            <a:ext cx="2980944" cy="0"/>
          </a:xfrm>
          <a:prstGeom prst="line">
            <a:avLst/>
          </a:prstGeom>
          <a:noFill/>
          <a:ln w="25400">
            <a:solidFill>
              <a:srgbClr val="E9E2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315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R$ 19.700 no caixa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usuários reais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" y="52578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COMEÇA NA SEMANA 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06824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5" name="Image 1" descr="assets/blob-blu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38528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62272" y="1938528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99432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Bootstrap de 90 dias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99432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o tráfego pago no menor tamanho possível pra descobrir o que converte.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599432" y="4160520"/>
            <a:ext cx="2980944" cy="0"/>
          </a:xfrm>
          <a:prstGeom prst="line">
            <a:avLst/>
          </a:prstGeom>
          <a:noFill/>
          <a:ln w="25400">
            <a:solidFill>
              <a:srgbClr val="E9E2D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99432" y="4315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R$ 4.500 investidos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~87 assinantes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99432" y="52578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COMEÇA NA SEMANA 1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46720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3" name="Image 2" descr="assets/blob-green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38528"/>
            <a:ext cx="658368" cy="6583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02168" y="1938528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339328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Crédito e editais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339328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Correr atrás de dinheiro barato e programas que não tomam parte da empresa.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339328" y="4160520"/>
            <a:ext cx="2980944" cy="0"/>
          </a:xfrm>
          <a:prstGeom prst="line">
            <a:avLst/>
          </a:prstGeom>
          <a:noFill/>
          <a:ln w="25400">
            <a:solidFill>
              <a:srgbClr val="E9E2D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39328" y="4315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R$ 150 mil possíveis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juros de 4,2% ao ano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339328" y="52578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RODA EM PARALELO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66928" y="5989320"/>
            <a:ext cx="11055096" cy="384048"/>
          </a:xfrm>
          <a:prstGeom prst="roundRect">
            <a:avLst>
              <a:gd name="adj" fmla="val 33333"/>
            </a:avLst>
          </a:prstGeom>
          <a:solidFill>
            <a:srgbClr val="E9E2D2"/>
          </a:solidFill>
          <a:ln/>
        </p:spPr>
      </p:sp>
      <p:sp>
        <p:nvSpPr>
          <p:cNvPr id="31" name="Text 26"/>
          <p:cNvSpPr/>
          <p:nvPr/>
        </p:nvSpPr>
        <p:spPr>
          <a:xfrm>
            <a:off x="566928" y="598932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das três depende das outras. Se uma travar, as outras duas continuam.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-1371600" y="265176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670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1 · PRÉ-VENDA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CRIA Fundador: 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100 vagas, R$ 197 pelo primeiro ano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55778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 rot="-180000">
            <a:off x="868680" y="148132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A PESSOA LEVA</a:t>
            </a:r>
            <a:endParaRPr lang="en-US" sz="1050" dirty="0"/>
          </a:p>
        </p:txBody>
      </p:sp>
      <p:pic>
        <p:nvPicPr>
          <p:cNvPr id="9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75488" cy="47548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2281977"/>
            <a:ext cx="209215" cy="2092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2130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 meses do plano Pro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481328" y="24048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custaria R$ 394 no ano; ela paga R$ 197 de uma vez</a:t>
            </a:r>
            <a:endParaRPr lang="en-US" sz="1100" dirty="0"/>
          </a:p>
        </p:txBody>
      </p:sp>
      <p:pic>
        <p:nvPicPr>
          <p:cNvPr id="13" name="Image 3" descr="assets/blob-orange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35224"/>
            <a:ext cx="475488" cy="47548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3068361"/>
            <a:ext cx="209215" cy="20921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81328" y="29169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Preço de fundador travado pra sempre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481328" y="31912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preço subir, ela continua pagando o de fundador</a:t>
            </a:r>
            <a:endParaRPr lang="en-US" sz="1100" dirty="0"/>
          </a:p>
        </p:txBody>
      </p:sp>
      <p:pic>
        <p:nvPicPr>
          <p:cNvPr id="17" name="Image 5" descr="assets/blob-orange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21608"/>
            <a:ext cx="475488" cy="475488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817" y="3854745"/>
            <a:ext cx="209215" cy="20921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481328" y="3703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Selo de fundador dentro do app</a:t>
            </a:r>
            <a:endParaRPr lang="en-US" sz="1250" dirty="0"/>
          </a:p>
        </p:txBody>
      </p:sp>
      <p:sp>
        <p:nvSpPr>
          <p:cNvPr id="20" name="Text 11"/>
          <p:cNvSpPr/>
          <p:nvPr/>
        </p:nvSpPr>
        <p:spPr>
          <a:xfrm>
            <a:off x="1481328" y="3977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no perfil dela</a:t>
            </a:r>
            <a:endParaRPr lang="en-US" sz="1100" dirty="0"/>
          </a:p>
        </p:txBody>
      </p:sp>
      <p:pic>
        <p:nvPicPr>
          <p:cNvPr id="21" name="Image 7" descr="assets/blob-orange-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507992"/>
            <a:ext cx="475488" cy="475488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817" y="4641129"/>
            <a:ext cx="209215" cy="20921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481328" y="44897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Grupo de fundadores</a:t>
            </a:r>
            <a:endParaRPr lang="en-US" sz="1250" dirty="0"/>
          </a:p>
        </p:txBody>
      </p:sp>
      <p:sp>
        <p:nvSpPr>
          <p:cNvPr id="24" name="Text 13"/>
          <p:cNvSpPr/>
          <p:nvPr/>
        </p:nvSpPr>
        <p:spPr>
          <a:xfrm>
            <a:off x="1481328" y="47640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direto com você e opina no que entra no produto</a:t>
            </a:r>
            <a:endParaRPr lang="en-US" sz="1100" dirty="0"/>
          </a:p>
        </p:txBody>
      </p:sp>
      <p:pic>
        <p:nvPicPr>
          <p:cNvPr id="25" name="Image 9" descr="assets/blob-orange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294376"/>
            <a:ext cx="475488" cy="475488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817" y="5427513"/>
            <a:ext cx="209215" cy="209215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481328" y="5276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Uma sessão de configuração ao vivo</a:t>
            </a:r>
            <a:endParaRPr lang="en-US" sz="1250" dirty="0"/>
          </a:p>
        </p:txBody>
      </p:sp>
      <p:sp>
        <p:nvSpPr>
          <p:cNvPr id="28" name="Text 15"/>
          <p:cNvSpPr/>
          <p:nvPr/>
        </p:nvSpPr>
        <p:spPr>
          <a:xfrm>
            <a:off x="1481328" y="5550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monta o brandbook e o 1º mês de conteúdo junto com ela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6400800" y="1691640"/>
            <a:ext cx="5221224" cy="1965960"/>
          </a:xfrm>
          <a:prstGeom prst="roundRect">
            <a:avLst>
              <a:gd name="adj" fmla="val 6512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0" name="Text 17"/>
          <p:cNvSpPr/>
          <p:nvPr/>
        </p:nvSpPr>
        <p:spPr>
          <a:xfrm>
            <a:off x="67208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Tem uma versão maior</a:t>
            </a:r>
            <a:endParaRPr lang="en-US" sz="1400" dirty="0"/>
          </a:p>
        </p:txBody>
      </p:sp>
      <p:sp>
        <p:nvSpPr>
          <p:cNvPr id="31" name="Text 18"/>
          <p:cNvSpPr/>
          <p:nvPr/>
        </p:nvSpPr>
        <p:spPr>
          <a:xfrm>
            <a:off x="672084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Fundador Studio · R$ 297 pelo ano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 Studio normal custaria R$ 598). Vem com Cria Plano, Stories, Prompter e Collabs. É a opção pra quem gerencia clientes.</a:t>
            </a:r>
            <a:endParaRPr lang="en-US" sz="1500" dirty="0"/>
          </a:p>
        </p:txBody>
      </p:sp>
      <p:sp>
        <p:nvSpPr>
          <p:cNvPr id="32" name="Shape 19"/>
          <p:cNvSpPr/>
          <p:nvPr/>
        </p:nvSpPr>
        <p:spPr>
          <a:xfrm>
            <a:off x="6400800" y="3840480"/>
            <a:ext cx="5221224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3" name="Text 20"/>
          <p:cNvSpPr/>
          <p:nvPr/>
        </p:nvSpPr>
        <p:spPr>
          <a:xfrm>
            <a:off x="67208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isso funciona</a:t>
            </a:r>
            <a:endParaRPr lang="en-US" sz="1400" dirty="0"/>
          </a:p>
        </p:txBody>
      </p:sp>
      <p:sp>
        <p:nvSpPr>
          <p:cNvPr id="34" name="Text 21"/>
          <p:cNvSpPr/>
          <p:nvPr/>
        </p:nvSpPr>
        <p:spPr>
          <a:xfrm>
            <a:off x="6720840" y="4434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desconto não é o argumento — é consequência. O argumento é pertencimento: “as 100 primeiras pessoas que acreditaram”. Isso atrai exatamente quem a gente quer no começo: gente que dá feedback, aguenta imperfeição e vira caso de sucesso.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preço travado é verdade, não promessa: a gente já decidiu reajustar depois dos 1.000 assinantes.</a:t>
            </a:r>
            <a:endParaRPr lang="en-US" sz="1200" dirty="0"/>
          </a:p>
        </p:txBody>
      </p:sp>
      <p:sp>
        <p:nvSpPr>
          <p:cNvPr id="35" name="Text 2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1 · O RESULTADO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isso põe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nosso caixa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76809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fundadores a R$ 197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77640" y="1737360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R$ 9.850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06440" y="1737360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 de anúncio a R$ 3 mil/mês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761488"/>
            <a:ext cx="7680960" cy="896112"/>
          </a:xfrm>
          <a:prstGeom prst="roundRect">
            <a:avLst>
              <a:gd name="adj" fmla="val 14286"/>
            </a:avLst>
          </a:prstGeom>
          <a:solidFill>
            <a:srgbClr val="CE4A1D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6148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fundadores a R$ 197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77640" y="2761488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R$ 19.700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06440" y="2761488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 e meio de anúncio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76809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78561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fundadores a R$ 297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77640" y="3785616"/>
            <a:ext cx="1783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R$ 29.700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06440" y="378561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10 meses de anúncio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1737360"/>
            <a:ext cx="3108960" cy="3017520"/>
          </a:xfrm>
          <a:prstGeom prst="roundRect">
            <a:avLst>
              <a:gd name="adj" fmla="val 4242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9" name="Image 0" descr="assets/blob-yel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965960"/>
            <a:ext cx="621792" cy="62179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062" y="2140062"/>
            <a:ext cx="273588" cy="273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8239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vale mais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 o dinheiro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8239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pessoas usando de verdade. É esse ativo que destrava banco, edital e investidor depois — o caixa é bônus.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66928" y="4937760"/>
            <a:ext cx="1105509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4" name="Image 2" descr="assets/blob-pink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658368" cy="658368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3" y="5323271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regra que a gente combina desde já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691640" y="5532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vender menos de 30 vagas, a gente não força nem estende o prazo. Liga pra 10 pessoas que não compraram e pergunta por quê. A resposta delas vale mais que os R$ 20 mil.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1 · EXECUÇÃO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lançamento cabe em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 dias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45920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92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 A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Preparação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18288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da oferta com contador de vagas, link de pagamento (à vista ou parcelado) e e-mail automático de boas-vindas convidando pro grupo de fundadores.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07208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807208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4 A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282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Aquecimento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299008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no nosso perfil contando a história real, sem vender nada ainda: por que a gente construiu o CRIA, qual era a dor, quanto tempo levou. Cada post termina com “semana que vem abro as 100 vagas”.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968496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8 A 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443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Abertura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80360" y="4151376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venda. Publica todo dia dizendo quantas vagas sobraram. E manda mensagem individual — uma a uma, não em massa — pra toda social media e criador que a gente conhece. Isso converte muito mais que post.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29784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5129784"/>
            <a:ext cx="109728" cy="1060704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276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9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13 E 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605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80360" y="5312664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“Últimas vagas”, com prazo real. E fecha na data prometida, mesmo que falte vender. Fechar quando disse que ia fechar é o que faz a próxima oferta ser levada a sério.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670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2 · BOOTSTRAP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R$ 4.500 em três meses. 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Nem um real a mais.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verba começa pequena de propósito. Os dois primeiros meses não são pra crescer — são pra descobrir qual anúncio e qual público convertem. Escalar antes de saber isso é queimar dinheiro.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 DE ANÚNCIO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ASSINANTES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1228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 FIM DO MÊS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8972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52928"/>
            <a:ext cx="1105509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28529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Outubro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286000" y="28529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R$ 1.000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85292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2280" y="28529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9720" y="28529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R$ 780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3712464"/>
            <a:ext cx="1105509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71246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Novembro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286000" y="371246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0" y="37124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371246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89720" y="37124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R$ 1.911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11055096" cy="749808"/>
          </a:xfrm>
          <a:prstGeom prst="roundRect">
            <a:avLst>
              <a:gd name="adj" fmla="val 17073"/>
            </a:avLst>
          </a:prstGeom>
          <a:solidFill>
            <a:srgbClr val="2A4BD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720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Dezembro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286000" y="45720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R$ 2.000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0" y="45720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5720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89720" y="4572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R$ 3.375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928" y="5440680"/>
            <a:ext cx="11055096" cy="914400"/>
          </a:xfrm>
          <a:prstGeom prst="roundRect">
            <a:avLst>
              <a:gd name="adj" fmla="val 14000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Somando os 100 fundadores, a gente fecha dezembro com cerca de </a:t>
            </a:r>
            <a:pPr algn="ctr" indent="0" marL="0">
              <a:buNone/>
            </a:pPr>
            <a:r>
              <a:rPr lang="en-US" sz="14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assinantes pagando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algn="ctr" indent="0" marL="0">
              <a:buNone/>
            </a:pPr>
            <a:r>
              <a:rPr lang="en-US" sz="14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 mil no caixa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tendo gasto R$ 4.500.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2 · EXECUÇÃO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a gente faz </a:t>
            </a:r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semana a semana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7" name="Image 0" descr="assets/blob-oran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65376"/>
            <a:ext cx="621792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62" y="2039478"/>
            <a:ext cx="273588" cy="273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 E 2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6002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Fundação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20440" y="179222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o pixel do Meta (hoje a página está sem ele) e configurar os eventos de cadastro e assinatura — sem medir não dá pra melhorar. Trocar os depoimentos ilustrativos por reais antes de anunciar (é exigência do Meta). Gravar 6 anúncios: 3 com o seu rosto falando e 3 de tela do produto.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6928" y="2807208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2" descr="assets/blob-blue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26664"/>
            <a:ext cx="621792" cy="621792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62" y="3200766"/>
            <a:ext cx="273588" cy="273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 A 6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160020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Teste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520440" y="295351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 por dia divididos em 3 grupos de anúncio, um pra cada público: criadores, social medias e um nicho específico. Deixar rodar 7 dias sem mexer. Desligar o que passar de R$ 80 por assinante, dobrar no que ficar abaixo de R$ 50.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66928" y="3968496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9" name="Image 4" descr="assets/blob-pink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87952"/>
            <a:ext cx="621792" cy="621792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62" y="4362054"/>
            <a:ext cx="273588" cy="273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0020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27E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7 A 10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1600200" y="4425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Refino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35204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só com os dois anúncios vencedores e produz 4 variações deles. Aqui entram as duas primeiras publis com criadoras de nicho (R$ 450 a R$ 800 cada). O vídeo que a criadora fizer também vira anúncio.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66928" y="5129784"/>
            <a:ext cx="11055096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5" name="Image 6" descr="assets/blob-green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349240"/>
            <a:ext cx="621792" cy="621792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062" y="5523342"/>
            <a:ext cx="273588" cy="273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600200" y="5276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E9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11 A 13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1600200" y="5586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Decisão</a:t>
            </a:r>
            <a:endParaRPr lang="en-US" sz="1500" dirty="0"/>
          </a:p>
        </p:txBody>
      </p:sp>
      <p:sp>
        <p:nvSpPr>
          <p:cNvPr id="29" name="Text 19"/>
          <p:cNvSpPr/>
          <p:nvPr/>
        </p:nvSpPr>
        <p:spPr>
          <a:xfrm>
            <a:off x="3520440" y="52760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90 dias de dado real, a gente sabe o custo por assinante de verdade e o cancelamento de verdade. É esse número que entra no próximo pitch.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2 · CONTROLE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Quatro números por semana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regras de parada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02920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 rot="-180000">
            <a:off x="868680" y="1481328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MEDIMOS TODA SEXTA</a:t>
            </a:r>
            <a:endParaRPr lang="en-US" sz="1050" dirty="0"/>
          </a:p>
        </p:txBody>
      </p:sp>
      <p:pic>
        <p:nvPicPr>
          <p:cNvPr id="8" name="Image 0" descr="assets/blob-oran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72768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 por assinante pagante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72768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por cadastro — por quem pagou</a:t>
            </a:r>
            <a:endParaRPr lang="en-US" sz="1150" dirty="0"/>
          </a:p>
        </p:txBody>
      </p:sp>
      <p:pic>
        <p:nvPicPr>
          <p:cNvPr id="12" name="Image 1" descr="assets/blob-blu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72768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Conversão do teste grátis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72768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conta que ninguém mediu ainda</a:t>
            </a:r>
            <a:endParaRPr lang="en-US" sz="1150" dirty="0"/>
          </a:p>
        </p:txBody>
      </p:sp>
      <p:pic>
        <p:nvPicPr>
          <p:cNvPr id="16" name="Image 2" descr="assets/blob-pink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4114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72768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Cancelamento no mês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72768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5% que a gente usa hoje ainda é chute</a:t>
            </a:r>
            <a:endParaRPr lang="en-US" sz="1150" dirty="0"/>
          </a:p>
        </p:txBody>
      </p:sp>
      <p:pic>
        <p:nvPicPr>
          <p:cNvPr id="20" name="Image 3" descr="assets/blob-green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5074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72768" y="5056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Caixa disponível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72768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meses de operação a gente ainda tem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852160" y="1691640"/>
            <a:ext cx="5769864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 rot="180000">
            <a:off x="6153912" y="1481328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QUANDO ACELERAR E QUANDO PARAR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172200" y="2249424"/>
            <a:ext cx="256032" cy="256032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27" name="Text 21"/>
          <p:cNvSpPr/>
          <p:nvPr/>
        </p:nvSpPr>
        <p:spPr>
          <a:xfrm>
            <a:off x="658368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 abaixo de R$ 50 por assinante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58368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duas semanas seguidas → aumenta a verba em 50%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72200" y="3209544"/>
            <a:ext cx="256032" cy="256032"/>
          </a:xfrm>
          <a:prstGeom prst="ellipse">
            <a:avLst/>
          </a:prstGeom>
          <a:solidFill>
            <a:srgbClr val="F2C21E"/>
          </a:solidFill>
          <a:ln/>
        </p:spPr>
      </p:sp>
      <p:sp>
        <p:nvSpPr>
          <p:cNvPr id="30" name="Text 24"/>
          <p:cNvSpPr/>
          <p:nvPr/>
        </p:nvSpPr>
        <p:spPr>
          <a:xfrm>
            <a:off x="6583680" y="3136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Entre R$ 50 e R$ 80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58368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a verba e melhora o anúncio antes de escalar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172200" y="4169664"/>
            <a:ext cx="256032" cy="256032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33" name="Text 27"/>
          <p:cNvSpPr/>
          <p:nvPr/>
        </p:nvSpPr>
        <p:spPr>
          <a:xfrm>
            <a:off x="6583680" y="4096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Acima de R$ 80 por três semanas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58368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tráfego. O problema não é verba, é oferta ou público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172200" y="5129784"/>
            <a:ext cx="256032" cy="256032"/>
          </a:xfrm>
          <a:prstGeom prst="ellipse">
            <a:avLst/>
          </a:prstGeom>
          <a:solidFill>
            <a:srgbClr val="17140F"/>
          </a:solidFill>
          <a:ln/>
        </p:spPr>
      </p:sp>
      <p:sp>
        <p:nvSpPr>
          <p:cNvPr id="36" name="Text 30"/>
          <p:cNvSpPr/>
          <p:nvPr/>
        </p:nvSpPr>
        <p:spPr>
          <a:xfrm>
            <a:off x="6583680" y="5056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Cancelamento acima de 10% ao mês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58368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 trazer gente nova e conserta o produto primeiro — encher balde furado só acelera o prejuízo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0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0881360" y="-123444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3009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3 · DINHEIRO BARATO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Crédito e editais: </a:t>
            </a:r>
            <a:pPr indent="0" marL="0">
              <a:buNone/>
            </a:pPr>
            <a:r>
              <a:rPr lang="en-US" sz="2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dinheiro sem dar pedaço da empresa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64922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 rot="-180000">
            <a:off x="868680" y="148132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PRIORIDADE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Crédito Inovação Finep–Sebrae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melhor opção que existe hoje pro nosso caso — melhor até que a linha do BNDES que a gente começou.</a:t>
            </a:r>
            <a:endParaRPr lang="en-US" sz="1250" dirty="0"/>
          </a:p>
        </p:txBody>
      </p:sp>
      <p:pic>
        <p:nvPicPr>
          <p:cNvPr id="11" name="Image 1" descr="assets/blob-gree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08960"/>
            <a:ext cx="475488" cy="47548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3242097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090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R$ 150 mil de ticket médio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481328" y="3364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exatamente o valor de que a gente precisa</a:t>
            </a:r>
            <a:endParaRPr lang="en-US" sz="1100" dirty="0"/>
          </a:p>
        </p:txBody>
      </p:sp>
      <p:pic>
        <p:nvPicPr>
          <p:cNvPr id="15" name="Image 3" descr="assets/blob-green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31336"/>
            <a:ext cx="475488" cy="47548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3964473"/>
            <a:ext cx="209215" cy="2092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81328" y="3813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Juros de 4,2% a 4,5% ao ano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481328" y="4087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abaixo de qualquer crédito comum</a:t>
            </a:r>
            <a:endParaRPr lang="en-US" sz="1100" dirty="0"/>
          </a:p>
        </p:txBody>
      </p:sp>
      <p:pic>
        <p:nvPicPr>
          <p:cNvPr id="19" name="Image 5" descr="assets/blob-green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553712"/>
            <a:ext cx="475488" cy="475488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817" y="4686849"/>
            <a:ext cx="209215" cy="20921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481328" y="45354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48 a 132 meses pra pagar, com 12 a 24 de carência</a:t>
            </a:r>
            <a:endParaRPr lang="en-US" sz="1250" dirty="0"/>
          </a:p>
        </p:txBody>
      </p:sp>
      <p:sp>
        <p:nvSpPr>
          <p:cNvPr id="22" name="Text 13"/>
          <p:cNvSpPr/>
          <p:nvPr/>
        </p:nvSpPr>
        <p:spPr>
          <a:xfrm>
            <a:off x="1481328" y="48097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começa a pagar depois da operação de pé</a:t>
            </a:r>
            <a:endParaRPr lang="en-US" sz="1100" dirty="0"/>
          </a:p>
        </p:txBody>
      </p:sp>
      <p:pic>
        <p:nvPicPr>
          <p:cNvPr id="23" name="Image 7" descr="assets/blob-orange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76088"/>
            <a:ext cx="475488" cy="475488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817" y="5409225"/>
            <a:ext cx="209215" cy="20921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481328" y="5257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MEI não pode pedir</a:t>
            </a:r>
            <a:endParaRPr lang="en-US" sz="1250" dirty="0"/>
          </a:p>
        </p:txBody>
      </p:sp>
      <p:sp>
        <p:nvSpPr>
          <p:cNvPr id="26" name="Text 15"/>
          <p:cNvSpPr/>
          <p:nvPr/>
        </p:nvSpPr>
        <p:spPr>
          <a:xfrm>
            <a:off x="1481328" y="55321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CRIA está como MEI, precisa virar ME antes</a:t>
            </a:r>
            <a:endParaRPr lang="en-US" sz="1100" dirty="0"/>
          </a:p>
        </p:txBody>
      </p:sp>
      <p:sp>
        <p:nvSpPr>
          <p:cNvPr id="27" name="Shape 16"/>
          <p:cNvSpPr/>
          <p:nvPr/>
        </p:nvSpPr>
        <p:spPr>
          <a:xfrm>
            <a:off x="7269480" y="1691640"/>
            <a:ext cx="435254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8" name="Shape 17"/>
          <p:cNvSpPr/>
          <p:nvPr/>
        </p:nvSpPr>
        <p:spPr>
          <a:xfrm>
            <a:off x="7269480" y="1691640"/>
            <a:ext cx="91440" cy="137160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29" name="Text 18"/>
          <p:cNvSpPr/>
          <p:nvPr/>
        </p:nvSpPr>
        <p:spPr>
          <a:xfrm>
            <a:off x="754380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Finep Startup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754380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contínuo, sem prazo. Vale submeter depois dos 90 dias, com os números reais na mão.</a:t>
            </a:r>
            <a:endParaRPr lang="en-US" sz="1150" dirty="0"/>
          </a:p>
        </p:txBody>
      </p:sp>
      <p:sp>
        <p:nvSpPr>
          <p:cNvPr id="31" name="Shape 20"/>
          <p:cNvSpPr/>
          <p:nvPr/>
        </p:nvSpPr>
        <p:spPr>
          <a:xfrm>
            <a:off x="7269480" y="3172968"/>
            <a:ext cx="435254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7269480" y="3172968"/>
            <a:ext cx="91440" cy="1371600"/>
          </a:xfrm>
          <a:prstGeom prst="roundRect">
            <a:avLst>
              <a:gd name="adj" fmla="val 50000"/>
            </a:avLst>
          </a:prstGeom>
          <a:solidFill>
            <a:srgbClr val="F27EB5"/>
          </a:solidFill>
          <a:ln/>
        </p:spPr>
      </p:sp>
      <p:sp>
        <p:nvSpPr>
          <p:cNvPr id="33" name="Text 22"/>
          <p:cNvSpPr/>
          <p:nvPr/>
        </p:nvSpPr>
        <p:spPr>
          <a:xfrm>
            <a:off x="7543800" y="33741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InovAtiva Brasil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7543800" y="3721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 gratuita e sem tomar parte da empresa. Não entra dinheiro, entra mentoria, rede e um selo que ajuda nas outras portas.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7269480" y="4654296"/>
            <a:ext cx="435254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7269480" y="4654296"/>
            <a:ext cx="91440" cy="137160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</p:spPr>
      </p:sp>
      <p:sp>
        <p:nvSpPr>
          <p:cNvPr id="37" name="Text 26"/>
          <p:cNvSpPr/>
          <p:nvPr/>
        </p:nvSpPr>
        <p:spPr>
          <a:xfrm>
            <a:off x="7543800" y="4855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Start Growth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7543800" y="52029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 até R$ 500 mil em software B2B. Exige tração — conversa pra depois de dezembro, não pra agora.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7269480" y="6108192"/>
            <a:ext cx="4352544" cy="256032"/>
          </a:xfrm>
          <a:prstGeom prst="roundRect">
            <a:avLst>
              <a:gd name="adj" fmla="val 50000"/>
            </a:avLst>
          </a:prstGeom>
          <a:solidFill>
            <a:srgbClr val="E9E2D2"/>
          </a:solidFill>
          <a:ln/>
        </p:spPr>
      </p:sp>
      <p:sp>
        <p:nvSpPr>
          <p:cNvPr id="40" name="Text 29"/>
          <p:cNvSpPr/>
          <p:nvPr/>
        </p:nvSpPr>
        <p:spPr>
          <a:xfrm>
            <a:off x="7269480" y="6044184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gastar as melhores portas antes de ter tração.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1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-1280160" y="256032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4597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F27EB5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 DE CASA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a gente precisa </a:t>
            </a:r>
            <a:pPr indent="0" marL="0">
              <a:buNone/>
            </a:pPr>
            <a:r>
              <a:rPr lang="en-US" sz="29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combinar entre nós dois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5394960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93392"/>
            <a:ext cx="621792" cy="62179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38" y="2167494"/>
            <a:ext cx="273588" cy="273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8488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 onde saem os R$ 4.500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59536" y="2633472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R$ 1.000 em outubro, R$ 1.500 em novembro e R$ 2.000 em dezembro. É o teto — não passa disso mesmo que esteja indo bem, e a decisão de aumentar só acontece com os dois de acordo.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227064" y="1737360"/>
            <a:ext cx="5394960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3" descr="assets/blob-blue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993392"/>
            <a:ext cx="621792" cy="621792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774" y="2167494"/>
            <a:ext cx="273588" cy="273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78624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tempo isso toma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519672" y="2633472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primeiras semanas são as mais pesadas (página, pixel, gravar os 6 anúncios). Depois vira rotina: publicar, mandar mensagem individual e olhar os números na sexta.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66928" y="3950208"/>
            <a:ext cx="5394960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8" name="Image 5" descr="assets/blob-green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206240"/>
            <a:ext cx="621792" cy="621792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638" y="4380342"/>
            <a:ext cx="273588" cy="2735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618488" y="43342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Quem faz o quê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859536" y="484632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escrever agora quem cuida do conteúdo e das mensagens, quem cuida do produto e do suporte de quem entrar, e quem olha os números toda semana. Duas pessoas fazendo tudo é como uma pessoa fazendo nada.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6227064" y="3950208"/>
            <a:ext cx="5394960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3" name="Image 7" descr="assets/blob-pink-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206240"/>
            <a:ext cx="621792" cy="621792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774" y="4380342"/>
            <a:ext cx="273588" cy="273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278624" y="43342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ponto de parada</a:t>
            </a:r>
            <a:endParaRPr lang="en-US" sz="1500" dirty="0"/>
          </a:p>
        </p:txBody>
      </p:sp>
      <p:sp>
        <p:nvSpPr>
          <p:cNvPr id="26" name="Text 15"/>
          <p:cNvSpPr/>
          <p:nvPr/>
        </p:nvSpPr>
        <p:spPr>
          <a:xfrm>
            <a:off x="6519672" y="484632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em dezembro o custo por assinante estiver acima de R$ 80 e o cancelamento acima de 10%, a gente para o anúncio e volta pro produto. Combinar isso agora, frio, evita decidir no calor depois.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566928" y="6053328"/>
            <a:ext cx="11055096" cy="365760"/>
          </a:xfrm>
          <a:prstGeom prst="roundRect">
            <a:avLst>
              <a:gd name="adj" fmla="val 35000"/>
            </a:avLst>
          </a:prstGeom>
          <a:solidFill>
            <a:srgbClr val="E9E2D2"/>
          </a:solidFill>
          <a:ln/>
        </p:spPr>
      </p:sp>
      <p:sp>
        <p:nvSpPr>
          <p:cNvPr id="28" name="Text 17"/>
          <p:cNvSpPr/>
          <p:nvPr/>
        </p:nvSpPr>
        <p:spPr>
          <a:xfrm>
            <a:off x="566928" y="601675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acreditar mais. É sobre combinar o limite antes de começar.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4597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F2C21E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8346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DOS 90 DIAS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Tudo isso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numa página só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1–2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14553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3–4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4187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5–8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5230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9–13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 rot="-120000">
            <a:off x="2377440" y="1627632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PRÉ-VENDA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103120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210312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21031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oferta e a página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3145536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77440" y="3145536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</p:spPr>
      </p:sp>
      <p:sp>
        <p:nvSpPr>
          <p:cNvPr id="16" name="Text 14"/>
          <p:cNvSpPr/>
          <p:nvPr/>
        </p:nvSpPr>
        <p:spPr>
          <a:xfrm>
            <a:off x="2633472" y="31455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aquecimento e abertura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4187952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4187952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</p:spPr>
      </p:sp>
      <p:sp>
        <p:nvSpPr>
          <p:cNvPr id="19" name="Text 17"/>
          <p:cNvSpPr/>
          <p:nvPr/>
        </p:nvSpPr>
        <p:spPr>
          <a:xfrm>
            <a:off x="2633472" y="418795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a 1ª turma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230368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77440" y="523036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E4A1D"/>
          </a:solidFill>
          <a:ln/>
        </p:spPr>
      </p:sp>
      <p:sp>
        <p:nvSpPr>
          <p:cNvPr id="22" name="Text 20"/>
          <p:cNvSpPr/>
          <p:nvPr/>
        </p:nvSpPr>
        <p:spPr>
          <a:xfrm>
            <a:off x="2633472" y="52303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reabrir se fizer sentido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1627632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04688" y="2103120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4688" y="210312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21031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pixel, eventos e 6 anúncios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04688" y="3145536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04688" y="3145536"/>
            <a:ext cx="82296" cy="86868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31455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primeiros R$ 30 por dia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04688" y="4187952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04688" y="4187952"/>
            <a:ext cx="82296" cy="86868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418795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anúncios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04688" y="5230368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04688" y="523036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2A4BDF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52303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 e refino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 rot="120000">
            <a:off x="8631936" y="1627632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CAPTAÇÃO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31936" y="2103120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31936" y="2103120"/>
            <a:ext cx="82296" cy="86868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</p:spPr>
      </p:sp>
      <p:sp>
        <p:nvSpPr>
          <p:cNvPr id="39" name="Text 37"/>
          <p:cNvSpPr/>
          <p:nvPr/>
        </p:nvSpPr>
        <p:spPr>
          <a:xfrm>
            <a:off x="8887968" y="21031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de MEI para 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31936" y="3145536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631936" y="3145536"/>
            <a:ext cx="82296" cy="86868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31455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documentos do Sebrae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31936" y="4187952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31936" y="4187952"/>
            <a:ext cx="82296" cy="86868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</p:spPr>
      </p:sp>
      <p:sp>
        <p:nvSpPr>
          <p:cNvPr id="45" name="Text 43"/>
          <p:cNvSpPr/>
          <p:nvPr/>
        </p:nvSpPr>
        <p:spPr>
          <a:xfrm>
            <a:off x="8887968" y="418795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submeter o Crédito Inovação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31936" y="5230368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631936" y="523036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3E9152"/>
          </a:solidFill>
          <a:ln/>
        </p:spPr>
      </p:sp>
      <p:sp>
        <p:nvSpPr>
          <p:cNvPr id="48" name="Text 46"/>
          <p:cNvSpPr/>
          <p:nvPr/>
        </p:nvSpPr>
        <p:spPr>
          <a:xfrm>
            <a:off x="8887968" y="52303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InovAtiva, se o ciclo abrir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0.png">    </p:cNvPr>
          <p:cNvPicPr>
            <a:picLocks noChangeAspect="1"/>
          </p:cNvPicPr>
          <p:nvPr/>
        </p:nvPicPr>
        <p:blipFill>
          <a:blip r:embed="rId1">
            <a:alphaModFix amt="86000"/>
          </a:blip>
          <a:stretch>
            <a:fillRect/>
          </a:stretch>
        </p:blipFill>
        <p:spPr>
          <a:xfrm>
            <a:off x="-1463040" y="-1371600"/>
            <a:ext cx="4023360" cy="4023360"/>
          </a:xfrm>
          <a:prstGeom prst="rect">
            <a:avLst/>
          </a:prstGeom>
        </p:spPr>
      </p:pic>
      <p:pic>
        <p:nvPicPr>
          <p:cNvPr id="3" name="Image 1" descr="assets/blob-blue-2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0698480" y="-1234440"/>
            <a:ext cx="2651760" cy="2651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30906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GENTE QUER CHEGAR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31 de dezembro de 2026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66928" y="1737360"/>
            <a:ext cx="26883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5528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185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95528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assinantes pagando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410712" y="1737360"/>
            <a:ext cx="26883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39312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R$ 20 mil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639312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caixa da pré-venda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883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83096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R$ 3.375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483096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receita todo mês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098280" y="1737360"/>
            <a:ext cx="268833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32688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932688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reais no lugar de chute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3703320"/>
            <a:ext cx="11055096" cy="1417320"/>
          </a:xfrm>
          <a:prstGeom prst="roundRect">
            <a:avLst>
              <a:gd name="adj" fmla="val 9032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14400" y="3886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D2C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Aí a conversa com o próximo investidor não começa em “eu acredito que”.
</a:t>
            </a:r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Começa em “está acontecendo, e eu quero acelerar”.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66928" y="5394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mais importante: nada disso depende de alguém dizer sim pra gente. Depende de a gente começar segunda-feira.</a:t>
            </a:r>
            <a:endParaRPr lang="en-US" sz="1400" dirty="0"/>
          </a:p>
        </p:txBody>
      </p:sp>
      <p:pic>
        <p:nvPicPr>
          <p:cNvPr id="23" name="Image 2" descr="assets/logo-cr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5257800"/>
            <a:ext cx="1417320" cy="777240"/>
          </a:xfrm>
          <a:prstGeom prst="rect">
            <a:avLst/>
          </a:prstGeom>
        </p:spPr>
      </p:pic>
      <p:pic>
        <p:nvPicPr>
          <p:cNvPr id="24" name="Image 3" descr="assets/st-cluver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5230368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 · CRIA · set–dez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2026-09-02T20:21:45Z</dcterms:created>
  <dcterms:modified xsi:type="dcterms:W3CDTF">2026-09-02T20:21:45Z</dcterms:modified>
</cp:coreProperties>
</file>