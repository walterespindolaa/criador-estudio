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Otimista (CAC R$ 33)</c:v>
                </c:pt>
              </c:strCache>
            </c:strRef>
          </c:tx>
          <c:spPr>
            <a:solidFill>
              <a:srgbClr val="3E9152"/>
            </a:solidFill>
            <a:ln w="38100" cap="flat">
              <a:solidFill>
                <a:srgbClr val="3E91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9152"/>
              </a:solidFill>
              <a:ln w="9525" cap="flat">
                <a:solidFill>
                  <a:srgbClr val="3E91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324</c:v>
                </c:pt>
                <c:pt idx="1">
                  <c:v>634</c:v>
                </c:pt>
                <c:pt idx="2">
                  <c:v>933</c:v>
                </c:pt>
                <c:pt idx="3">
                  <c:v>1219</c:v>
                </c:pt>
                <c:pt idx="4">
                  <c:v>1494</c:v>
                </c:pt>
                <c:pt idx="5">
                  <c:v>1758</c:v>
                </c:pt>
                <c:pt idx="6">
                  <c:v>2011</c:v>
                </c:pt>
                <c:pt idx="7">
                  <c:v>2254</c:v>
                </c:pt>
                <c:pt idx="8">
                  <c:v>2488</c:v>
                </c:pt>
                <c:pt idx="9">
                  <c:v>2712</c:v>
                </c:pt>
                <c:pt idx="10">
                  <c:v>2927</c:v>
                </c:pt>
                <c:pt idx="11">
                  <c:v>3133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(CAC R$ 46)</c:v>
                </c:pt>
              </c:strCache>
            </c:strRef>
          </c:tx>
          <c:spPr>
            <a:solidFill>
              <a:srgbClr val="CE4A1D"/>
            </a:solidFill>
            <a:ln w="38100" cap="flat">
              <a:solidFill>
                <a:srgbClr val="CE4A1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E4A1D"/>
              </a:solidFill>
              <a:ln w="9525" cap="flat">
                <a:solidFill>
                  <a:srgbClr val="CE4A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216</c:v>
                </c:pt>
                <c:pt idx="1">
                  <c:v>421</c:v>
                </c:pt>
                <c:pt idx="2">
                  <c:v>615</c:v>
                </c:pt>
                <c:pt idx="3">
                  <c:v>800</c:v>
                </c:pt>
                <c:pt idx="4">
                  <c:v>976</c:v>
                </c:pt>
                <c:pt idx="5">
                  <c:v>1143</c:v>
                </c:pt>
                <c:pt idx="6">
                  <c:v>1302</c:v>
                </c:pt>
                <c:pt idx="7">
                  <c:v>1452</c:v>
                </c:pt>
                <c:pt idx="8">
                  <c:v>1595</c:v>
                </c:pt>
                <c:pt idx="9">
                  <c:v>1731</c:v>
                </c:pt>
                <c:pt idx="10">
                  <c:v>1861</c:v>
                </c:pt>
                <c:pt idx="11">
                  <c:v>1983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Conservador (CAC R$ 66)</c:v>
                </c:pt>
              </c:strCache>
            </c:strRef>
          </c:tx>
          <c:spPr>
            <a:solidFill>
              <a:srgbClr val="2A4BDF"/>
            </a:solidFill>
            <a:ln w="38100" cap="flat">
              <a:solidFill>
                <a:srgbClr val="2A4BD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4BDF"/>
              </a:solidFill>
              <a:ln w="9525" cap="flat">
                <a:solidFill>
                  <a:srgbClr val="2A4BD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162</c:v>
                </c:pt>
                <c:pt idx="1">
                  <c:v>312</c:v>
                </c:pt>
                <c:pt idx="2">
                  <c:v>452</c:v>
                </c:pt>
                <c:pt idx="3">
                  <c:v>582</c:v>
                </c:pt>
                <c:pt idx="4">
                  <c:v>703</c:v>
                </c:pt>
                <c:pt idx="5">
                  <c:v>816</c:v>
                </c:pt>
                <c:pt idx="6">
                  <c:v>921</c:v>
                </c:pt>
                <c:pt idx="7">
                  <c:v>1018</c:v>
                </c:pt>
                <c:pt idx="8">
                  <c:v>1109</c:v>
                </c:pt>
                <c:pt idx="9">
                  <c:v>1193</c:v>
                </c:pt>
                <c:pt idx="10">
                  <c:v>1271</c:v>
                </c:pt>
                <c:pt idx="11">
                  <c:v>1344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0"/>
        <c:axPos val="l"/>
        <c:majorGridlines>
          <c:spPr>
            <a:ln w="6350" cap="flat">
              <a:solidFill>
                <a:srgbClr val="DD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140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(R$ mil/mês)</c:v>
                </c:pt>
              </c:strCache>
            </c:strRef>
          </c:tx>
          <c:spPr>
            <a:solidFill>
              <a:srgbClr val="CE4A1D"/>
            </a:solidFill>
            <a:effectLst/>
          </c:spPr>
          <c:invertIfNegative val="0"/>
          <c:dLbls>
            <c:numFmt formatCode="R$ #0&quot; mil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Mês 6</c:v>
                  </c:pt>
                  <c:pt idx="1">
                    <c:v>Mês 12</c:v>
                  </c:pt>
                  <c:pt idx="2">
                    <c:v>Mês 18</c:v>
                  </c:pt>
                  <c:pt idx="3">
                    <c:v>Mês 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61</c:v>
                </c:pt>
                <c:pt idx="2">
                  <c:v>80</c:v>
                </c:pt>
                <c:pt idx="3">
                  <c:v>94</c:v>
                </c:pt>
              </c:numCache>
            </c:numRef>
          </c:val>
        </c:ser>
        <c:dLbls>
          <c:numFmt formatCode="R$ #0&quot; mil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7140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14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Receita/mês (MRR)</c:v>
                </c:pt>
              </c:strCache>
            </c:strRef>
          </c:tx>
          <c:spPr>
            <a:solidFill>
              <a:srgbClr val="CE4A1D"/>
            </a:solidFill>
            <a:effectLst/>
          </c:spPr>
          <c:invertIfNegative val="0"/>
          <c:dLbls>
            <c:numFmt formatCode="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2.000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62</c:v>
                </c:pt>
                <c:pt idx="2">
                  <c:v>155</c:v>
                </c:pt>
                <c:pt idx="3">
                  <c:v>309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 total/mês</c:v>
                </c:pt>
              </c:strCache>
            </c:strRef>
          </c:tx>
          <c:spPr>
            <a:solidFill>
              <a:srgbClr val="B9AF9C"/>
            </a:solidFill>
            <a:effectLst/>
          </c:spPr>
          <c:invertIfNegative val="0"/>
          <c:dLbls>
            <c:numFmt formatCode="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2.000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50</c:v>
                </c:pt>
                <c:pt idx="2">
                  <c:v>101</c:v>
                </c:pt>
                <c:pt idx="3">
                  <c:v>193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Lucro/mês</c:v>
                </c:pt>
              </c:strCache>
            </c:strRef>
          </c:tx>
          <c:spPr>
            <a:solidFill>
              <a:srgbClr val="3E9152"/>
            </a:solidFill>
            <a:effectLst/>
          </c:spPr>
          <c:invertIfNegative val="0"/>
          <c:dLbls>
            <c:numFmt formatCode="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1.000</c:v>
                  </c:pt>
                  <c:pt idx="1">
                    <c:v>2.000</c:v>
                  </c:pt>
                  <c:pt idx="2">
                    <c:v>5.000</c:v>
                  </c:pt>
                  <c:pt idx="3">
                    <c:v>10.000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11</c:v>
                </c:pt>
                <c:pt idx="2">
                  <c:v>53</c:v>
                </c:pt>
                <c:pt idx="3">
                  <c:v>116</c:v>
                </c:pt>
              </c:numCache>
            </c:numRef>
          </c:val>
        </c:ser>
        <c:dLbls>
          <c:numFmt formatCode="#0" sourceLinked="0"/>
          <c:txPr>
            <a:bodyPr/>
            <a:lstStyle/>
            <a:p>
              <a:pPr>
                <a:defRPr b="1" i="0" strike="noStrike" sz="900" u="none">
                  <a:solidFill>
                    <a:srgbClr val="17140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714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140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Custo/cliente/mês (R$)</c:v>
                </c:pt>
              </c:strCache>
            </c:strRef>
          </c:tx>
          <c:spPr>
            <a:solidFill>
              <a:srgbClr val="CE4A1D"/>
            </a:solidFill>
            <a:effectLst/>
          </c:spPr>
          <c:invertIfNegative val="0"/>
          <c:dLbls>
            <c:numFmt formatCode="R$ #,##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 ativos</c:v>
                  </c:pt>
                  <c:pt idx="1">
                    <c:v>100</c:v>
                  </c:pt>
                  <c:pt idx="2">
                    <c:v>1.000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6</c:v>
                </c:pt>
                <c:pt idx="2">
                  <c:v>3.3</c:v>
                </c:pt>
              </c:numCache>
            </c:numRef>
          </c:val>
        </c:ser>
        <c:dLbls>
          <c:numFmt formatCode="R$ #,##0.00" sourceLinked="0"/>
          <c:txPr>
            <a:bodyPr/>
            <a:lstStyle/>
            <a:p>
              <a:pPr>
                <a:defRPr b="1" i="0" strike="noStrike" sz="1200" u="none">
                  <a:solidFill>
                    <a:srgbClr val="17140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14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Custo/cliente/mês (R$)</c:v>
                </c:pt>
              </c:strCache>
            </c:strRef>
          </c:tx>
          <c:spPr>
            <a:solidFill>
              <a:srgbClr val="2A4BDF"/>
            </a:solidFill>
            <a:effectLst/>
          </c:spPr>
          <c:invertIfNegative val="0"/>
          <c:dLbls>
            <c:numFmt formatCode="R$ #,##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4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 ativos</c:v>
                  </c:pt>
                  <c:pt idx="1">
                    <c:v>100</c:v>
                  </c:pt>
                  <c:pt idx="2">
                    <c:v>1.000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28.88</c:v>
                </c:pt>
                <c:pt idx="1">
                  <c:v>5.57</c:v>
                </c:pt>
                <c:pt idx="2">
                  <c:v>3.24</c:v>
                </c:pt>
              </c:numCache>
            </c:numRef>
          </c:val>
        </c:ser>
        <c:dLbls>
          <c:numFmt formatCode="R$ #,##0.00" sourceLinked="0"/>
          <c:txPr>
            <a:bodyPr/>
            <a:lstStyle/>
            <a:p>
              <a:pPr>
                <a:defRPr b="1" i="0" strike="noStrike" sz="1200" u="none">
                  <a:solidFill>
                    <a:srgbClr val="17140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140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do aporte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E4A1D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7EB5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3E9152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2A4BDF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2C21E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A8578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9E2D2"/>
              </a:solidFill>
              <a:ln w="25400" cap="flat">
                <a:solidFill>
                  <a:srgbClr val="F4EFE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Tráfego pago</c:v>
                </c:pt>
                <c:pt idx="1">
                  <c:v>UGC e influenciadores</c:v>
                </c:pt>
                <c:pt idx="2">
                  <c:v>Parcerias</c:v>
                </c:pt>
                <c:pt idx="3">
                  <c:v>Vídeo e motion</c:v>
                </c:pt>
                <c:pt idx="4">
                  <c:v>Design</c:v>
                </c:pt>
                <c:pt idx="5">
                  <c:v>Marcas e registro (INPI)</c:v>
                </c:pt>
                <c:pt idx="6">
                  <c:v>Reserva de segurança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120000</c:v>
                </c:pt>
                <c:pt idx="1">
                  <c:v>40800</c:v>
                </c:pt>
                <c:pt idx="2">
                  <c:v>30000</c:v>
                </c:pt>
                <c:pt idx="3">
                  <c:v>24000</c:v>
                </c:pt>
                <c:pt idx="4">
                  <c:v>12000</c:v>
                </c:pt>
                <c:pt idx="5">
                  <c:v>8000</c:v>
                </c:pt>
                <c:pt idx="6">
                  <c:v>15200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Assinantes</c:v>
                </c:pt>
              </c:strCache>
            </c:strRef>
          </c:tx>
          <c:spPr>
            <a:solidFill>
              <a:srgbClr val="CE4A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  <c:pt idx="6">
                    <c:v>m42</c:v>
                  </c:pt>
                  <c:pt idx="7">
                    <c:v>m48</c:v>
                  </c:pt>
                  <c:pt idx="8">
                    <c:v>m54</c:v>
                  </c:pt>
                  <c:pt idx="9">
                    <c:v>m60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1143</c:v>
                </c:pt>
                <c:pt idx="1">
                  <c:v>1983</c:v>
                </c:pt>
                <c:pt idx="2">
                  <c:v>2601</c:v>
                </c:pt>
                <c:pt idx="3">
                  <c:v>3055</c:v>
                </c:pt>
                <c:pt idx="4">
                  <c:v>3389</c:v>
                </c:pt>
                <c:pt idx="5">
                  <c:v>3634</c:v>
                </c:pt>
                <c:pt idx="6">
                  <c:v>3815</c:v>
                </c:pt>
                <c:pt idx="7">
                  <c:v>3947</c:v>
                </c:pt>
                <c:pt idx="8">
                  <c:v>4045</c:v>
                </c:pt>
                <c:pt idx="9">
                  <c:v>4116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Renda mensal do investidor (R$)</c:v>
                </c:pt>
              </c:strCache>
            </c:strRef>
          </c:tx>
          <c:spPr>
            <a:solidFill>
              <a:srgbClr val="3E9152"/>
            </a:solidFill>
            <a:ln w="38100" cap="flat">
              <a:solidFill>
                <a:srgbClr val="3E91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E9152"/>
              </a:solidFill>
              <a:ln w="9525" cap="flat">
                <a:solidFill>
                  <a:srgbClr val="3E91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  <c:pt idx="6">
                    <c:v>m42</c:v>
                  </c:pt>
                  <c:pt idx="7">
                    <c:v>m48</c:v>
                  </c:pt>
                  <c:pt idx="8">
                    <c:v>m54</c:v>
                  </c:pt>
                  <c:pt idx="9">
                    <c:v>m60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5472</c:v>
                </c:pt>
                <c:pt idx="3">
                  <c:v>7436</c:v>
                </c:pt>
                <c:pt idx="4">
                  <c:v>8880</c:v>
                </c:pt>
                <c:pt idx="5">
                  <c:v>9941</c:v>
                </c:pt>
                <c:pt idx="6">
                  <c:v>10722</c:v>
                </c:pt>
                <c:pt idx="7">
                  <c:v>11295</c:v>
                </c:pt>
                <c:pt idx="8">
                  <c:v>11717</c:v>
                </c:pt>
                <c:pt idx="9">
                  <c:v>12027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"/>
        </c:scaling>
        <c:delete val="0"/>
        <c:axPos val="l"/>
        <c:majorGridlines>
          <c:spPr>
            <a:ln w="6350" cap="flat">
              <a:solidFill>
                <a:srgbClr val="DD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300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E9152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7140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Posição líquida (R$ mil)</c:v>
                </c:pt>
              </c:strCache>
            </c:strRef>
          </c:tx>
          <c:spPr>
            <a:solidFill>
              <a:srgbClr val="2A4BDF"/>
            </a:solidFill>
            <a:ln w="44450" cap="flat">
              <a:solidFill>
                <a:srgbClr val="2A4BD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4BDF"/>
              </a:solidFill>
              <a:ln w="9525" cap="flat">
                <a:solidFill>
                  <a:srgbClr val="2A4BD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  <c:pt idx="6">
                    <c:v>m42</c:v>
                  </c:pt>
                  <c:pt idx="7">
                    <c:v>m48</c:v>
                  </c:pt>
                  <c:pt idx="8">
                    <c:v>m54</c:v>
                  </c:pt>
                  <c:pt idx="9">
                    <c:v>m60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-250</c:v>
                </c:pt>
                <c:pt idx="1">
                  <c:v>-250</c:v>
                </c:pt>
                <c:pt idx="2">
                  <c:v>-223.4</c:v>
                </c:pt>
                <c:pt idx="3">
                  <c:v>-183.4</c:v>
                </c:pt>
                <c:pt idx="4">
                  <c:v>-133.6</c:v>
                </c:pt>
                <c:pt idx="5">
                  <c:v>-76.4</c:v>
                </c:pt>
                <c:pt idx="6">
                  <c:v>-13.9</c:v>
                </c:pt>
                <c:pt idx="7">
                  <c:v>52.5</c:v>
                </c:pt>
                <c:pt idx="8">
                  <c:v>121.8</c:v>
                </c:pt>
                <c:pt idx="9">
                  <c:v>193.3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-260"/>
        </c:scaling>
        <c:delete val="0"/>
        <c:axPos val="l"/>
        <c:majorGridlines>
          <c:spPr>
            <a:ln w="6350" cap="flat">
              <a:solidFill>
                <a:srgbClr val="DDD5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3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dois produtos que eu já construí e que estão no ar. Não estou pedindo dinheiro pra desenvolver nada: estou propondo sociedade pra escalar o que já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Storytelling de abertura, sem falar de dinheiro ainda: o CRIA saiu da operação de social media da Gabriela (cada tela é uma dor real); o Atlas saiu do estudo de 300+ planejamentos de famílias. A frase final planta a curiosidade: 'combustível pra crescer' prepara o pedido que só vem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dor é real e eu vivi as duas: o CRIA nasceu da operação de social media da Gabriela; o Atlas nasceu do estudo de mais de 300 planejamentos financeiros de famílias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produto vivo se possível (abrir o app depois do slide). O diferencial: uma coisa puxa a outra: ideia vira post, post entra no quadro, quadro preenche o calendário.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públicos = duas portas de receita no mesmo código. E um alimenta o outro: o social media traz os clientes dele pro CRIA.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= planejador financeiro automatizado. O comparativo matador: um humano cobra R$ 2.400/ano; o Atlas faz o trabalho estrutural por R$ 298/ano.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precisamos de 1% desses mercados. 1.000 assinantes = 0,05% dos criadores do Brasil. A meta é ridiculamente pequena perto do tamanho do bolo.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 de mercado de junho/2026: preços reais dos concorrentes. Os globais (Later, Buffer) cobram em dólar e não têm CRM nem financeiro. Os BR só agendam.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que o investidor faz: 'e se o Mobills copiar?' Resposta: o Método Atlas (5 relatórios + 300 planejamentos estudados) é conteúdo proprietário, e o custo deles de virar a chave de produto é alto: eles vivem de anúncio 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anti-risco mais forte do deck: ninguém precisa acreditar em projeção, os concorrentes de UM pedaço já provaram que o mercado paga. Metricool foi vendida por mais de €100 milhões fazendo só métricas. A meta de 1.000 assinantes é 0,7% da base da mLabs: não estamos assumindo nenhum milagre de mercado, só uma fração pequena de uma demanda já comprovada.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é o argumento de urgência: cada mês parado é CAC mais caro no futuro e espaço pros concorrentes acordarem.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começa o capítulo de estratégia: mostrar que existe um plano com ordem e critério, não um 'me dá dinheiro pra anunciar'. A fase 1 já está em execução: prints batidos, LP no ar, pixel pendente de ID, contas demo prontas.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 o 'por que não meio a meio?': foco vence. O algoritmo de anúncio também funciona melhor com verba concentrada. O Atlas não fica parado: fica em validação barata, herdando os aprendizados, e assume o palco no ano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pedagógico de propósito: o Márcio é leigo em marketing digital. A lista de nichos vem do mapeamento de quem contrata social media no Brasil (estética, saúde, gastronomia, moda, fitness). Já existe a pendência de trocar depoimentos ilustrativos por reais antes de rodar tráfego (regra Meta/CONAR): entra na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1 minuto: garantir que ninguém finge que entendeu sigla. A partir daqui, os números falam.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valores são os que eu já pratico ou cotei: design a R$ 50/post, edição a R$ 300/vídeo, UGC entre R$ 450 e R$ 1.250 por publi.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assinantes acumulados por mês nos 3 cenários, já descontando cancelamentos. Mesmo no conservador, a meta cai no mês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Ancorar que 1.000 é marco de validação, não o fim. O teto de 4.300 vem da conta: novos assinantes/mês ÷ churn. Pra ir além, escala-se a verba, com o caixa da própria operação ou nova rodada.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Premissas: ticket médio R$ 30,90; custo direto de 30% da receita (taxas de cartão, impostos do Simples, infraestrutura e IA); máquina de marketing sobe de R$ 18,9 mil pra R$ 30 mil (5.000) e R$ 55 mil (10.000); equipe cresce junto: CS nos 1.000 (R$ 3 mil), dev+CS+design nos 2.000 (R$ 13 mil), time de 4-5 nos 5.000 (R$ 25 mil), 6-7 nos 10.000 (R$ 45 mil). Nos 1.000 é empate de propósito: é o ponto onde a operação se sustenta sozinha; daí em diante a margem só cresce (18% → 34% → 38%), porque o custo cresce muito mais devagar que 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argumento: software tem custo quase fixo. O servidor que atende 10 atende 1.000, então o custo por cliente despenca de ~R$ 30 pra ~R$ 3,30 e a margem cresce sozinha. Atlas: números medidos na planilha de custos (OpenAI + infra + vídeo + Stripe, câmbio 5,18). CRIA: estimativa com premissas abertas (infra fixa ~R$ 300/mês + ~R$ 3/cliente de IA e módulos), a validar com a telemetria quando a base crescer. Margem por cliente na escala: CRIA 32,90 − 3,30 − 4,4% Stripe − 8% imposto ≈ R$ 25,52 (78%); Atlas 24,90 − 3,24 − 8% ≈ R$ 19,67 (79%).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importante pra um investidor: unit economics. Com LTV/CAC 13x, o risco não é 'o modelo funciona?', é só execução de aquisição.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Ancoragem: abrir em 20%, teto interno 25%, nunca passar disso. Se o Márcio pedir mais, trocar % por valor: mais aporte, não mais participação.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Investidor gosta de ver que o dinheiro não vira pró-labore. 94% do aporte vai direto pra aquisição de clientes; o resto é registro de marca e colchão.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(retorno sobre o investimento) mostrado dos dois jeitos: renda (lucros) e patrimônio (valorização). Múltiplo de 3× ARR é conservador pra SaaS com LTV/CAC de dois dígitos.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'como o dinheiro volta pro meu bolso' de forma literal. Números do cenário base (CAC R$ 46, churn 5%, margem 70%, lucro distribuído integralmente a partir do ano 2; no ano 1 o lucro é pequeno e volta pro crescimento). Ano 5 em diante: ~R$ 140 mil/ano na fatia de 20%. Se o Márcio preferir caixa antes, dá pra pactuar distribuição trimestral a partir do primeiro trimestre lucrativo, trocando um pouco de velocidade de crescimento por renda. O tag along e a política de distribuição entram no acordo de sociedade (slide seguinte fala das proteções).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gráficos contam a história completa em 5 anos, cenário base: à esquerda, a base de assinantes crescendo (barras, eixo esquerdo) puxa a renda mensal dele (linha verde, eixo direito) de zero pra ~R$ 12 mil/mês. À direita, o 'desinvestimento': a posição líquida começa em −250 mil, cruza o zero no mês 44 e fecha o ano 5 em +193 mil, ainda sendo dono de 20%. Ponto de conversa: essa é a trajetória SEM subir de nível de verba; se reinvestirmos mais pesado (slide do lucro por escala), a curva inteira desloca pra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as objeções antes que o Márcio faça. A mais provável: 'e se o tráfego não converter?' → tranches por meta + margem de 13x + realocação entre os dois produtos.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convite direto: 'Quero você dentro. Qual formato de aporte faz mais sentido pra você?', e deixar a decisão do formato (não do SIM) pra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1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5" Type="http://schemas.openxmlformats.org/officeDocument/2006/relationships/chart" Target="/ppt/charts/chart5.xm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1" Type="http://schemas.openxmlformats.org/officeDocument/2006/relationships/image" Target="../media/image-2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2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3.png"/><Relationship Id="rId14" Type="http://schemas.openxmlformats.org/officeDocument/2006/relationships/image" Target="../media/image-2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2.png"/><Relationship Id="rId4" Type="http://schemas.openxmlformats.org/officeDocument/2006/relationships/image" Target="../media/image-28-2.png"/><Relationship Id="rId5" Type="http://schemas.openxmlformats.org/officeDocument/2006/relationships/image" Target="../media/image-28-2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-1554480"/>
            <a:ext cx="3840480" cy="3840480"/>
          </a:xfrm>
          <a:prstGeom prst="rect">
            <a:avLst/>
          </a:prstGeom>
        </p:spPr>
      </p:pic>
      <p:pic>
        <p:nvPicPr>
          <p:cNvPr id="3" name="Image 1" descr="assets/blob-yellow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7320" y="4480560"/>
            <a:ext cx="3108960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Shape 1"/>
          <p:cNvSpPr/>
          <p:nvPr/>
        </p:nvSpPr>
        <p:spPr>
          <a:xfrm>
            <a:off x="11384280" y="3063240"/>
            <a:ext cx="365760" cy="365760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6" name="Shape 2"/>
          <p:cNvSpPr/>
          <p:nvPr/>
        </p:nvSpPr>
        <p:spPr>
          <a:xfrm>
            <a:off x="1874520" y="5440680"/>
            <a:ext cx="274320" cy="274320"/>
          </a:xfrm>
          <a:prstGeom prst="ellipse">
            <a:avLst/>
          </a:prstGeom>
          <a:solidFill>
            <a:srgbClr val="2A4BDF"/>
          </a:solidFill>
          <a:ln/>
        </p:spPr>
      </p:sp>
      <p:pic>
        <p:nvPicPr>
          <p:cNvPr id="7" name="Image 2" descr="assets/logo-cr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170432"/>
            <a:ext cx="2880360" cy="15819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53328" y="1481328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×</a:t>
            </a:r>
            <a:endParaRPr lang="en-US" sz="5000" dirty="0"/>
          </a:p>
        </p:txBody>
      </p:sp>
      <p:pic>
        <p:nvPicPr>
          <p:cNvPr id="9" name="Image 3" descr="assets/logo-atl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960120"/>
            <a:ext cx="1965960" cy="19659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338328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Dois produtos prontos.
</a:t>
            </a:r>
            <a:pPr algn="ctr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Um plano pra </a:t>
            </a:r>
            <a:pPr algn="ctr" indent="0" marL="0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dominar dois mercados.</a:t>
            </a:r>
            <a:endParaRPr lang="en-US" sz="3100" dirty="0"/>
          </a:p>
        </p:txBody>
      </p:sp>
      <p:sp>
        <p:nvSpPr>
          <p:cNvPr id="11" name="Text 5"/>
          <p:cNvSpPr/>
          <p:nvPr/>
        </p:nvSpPr>
        <p:spPr>
          <a:xfrm>
            <a:off x="2148840" y="5074920"/>
            <a:ext cx="7891272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3A3225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sociedade e investimento  ·  preparada para </a:t>
            </a:r>
            <a:pPr algn="ctr" indent="0" marL="0">
              <a:buNone/>
            </a:pPr>
            <a:r>
              <a:rPr lang="en-US" sz="1300" b="1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Márcio Talgatti</a:t>
            </a:r>
            <a:pPr algn="ctr"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agosto de 2026</a:t>
            </a:r>
            <a:endParaRPr lang="en-US" sz="1300" dirty="0"/>
          </a:p>
        </p:txBody>
      </p:sp>
      <p:pic>
        <p:nvPicPr>
          <p:cNvPr id="12" name="Image 4" descr="assets/st-lampad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892040"/>
            <a:ext cx="1371600" cy="1371600"/>
          </a:xfrm>
          <a:prstGeom prst="rect">
            <a:avLst/>
          </a:prstGeom>
        </p:spPr>
      </p:pic>
      <p:pic>
        <p:nvPicPr>
          <p:cNvPr id="13" name="Image 5" descr="assets/st-mochi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617720"/>
            <a:ext cx="1234440" cy="134178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0292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-777240"/>
            <a:ext cx="1737360" cy="1737360"/>
          </a:xfrm>
          <a:prstGeom prst="rect">
            <a:avLst/>
          </a:prstGeom>
        </p:spPr>
      </p:pic>
      <p:pic>
        <p:nvPicPr>
          <p:cNvPr id="3" name="Image 1" descr="assets/blob-orang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4440" y="5486400"/>
            <a:ext cx="1828800" cy="1828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27752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· A ORIGEM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Isso não nasceu em reunião.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Nasceu na prática.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64592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9" name="Image 2" descr="assets/logo-cr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371600" cy="7498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Nasceu dentro de uma operação real de social media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68680" y="35204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resolve uma dor vivida na pele: aprovação por print no WhatsApp, relatório de 3 horas, financeiro na planilha, ideia perdida no bloco de notas.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construído, testado no dia a dia e está no ar, cobrando.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4592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3" descr="assets/logo-atl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288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65392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Nasceu do estudo de 300+ planejamentos financeiros reais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565392" y="35204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Famílias brasileiras de verdade, plano a plano, até virar um método próprio: os 5 relatórios do Método Atlas.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de um planejador humano, entregue a preço de aplicativo.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17500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868680" y="5742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produtos prontos, construídos do jeito difícil.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falta não é produto. É combustível pra crescer, e é disso que essa conversa trata.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-868680"/>
            <a:ext cx="1920240" cy="1920240"/>
          </a:xfrm>
          <a:prstGeom prst="rect">
            <a:avLst/>
          </a:prstGeom>
        </p:spPr>
      </p:pic>
      <p:pic>
        <p:nvPicPr>
          <p:cNvPr id="3" name="Image 1" descr="assets/blob-yellow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4440" y="5532120"/>
            <a:ext cx="1828800" cy="1828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37216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ESSES PRODUTOS EXISTEM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Dois mercados gigantes,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mesma dor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64592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9" name="Image 2" descr="assets/blob-orange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01952"/>
            <a:ext cx="640080" cy="6400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" y="2081174"/>
            <a:ext cx="281635" cy="2816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5920" y="1920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Quem vive de conteúdo trabalha espalhado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2960" y="2743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Criadores e social medias operam em 4 a 6 apps que não conversam entre si: ideia no bloco de notas, aprovação por print no WhatsApp, financeiro numa planilha.</a:t>
            </a:r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 R$ 200+ por mês num quebra-cabeça de ferramentas, e quem faz a integração entre elas são eles mesmos, na mão.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29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milhões de criadores no Brasil, o dobro de um ano atrás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199632" y="164592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5" name="Image 4" descr="assets/blob-blue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901952"/>
            <a:ext cx="640080" cy="64008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8894" y="2081174"/>
            <a:ext cx="281635" cy="28163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42632" y="1920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brasileiro não tem plano financeiro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519672" y="2743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apps de finanças mais usados só mostram pra onde o dinheiro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funcionam como retrovisor.</a:t>
            </a:r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planejador financeiro de verdade custa R$ 650 por consulta ou R$ 2.400 por ano. Ninguém entrega o plano do futuro (projeção, simulação, aposentadoria) por preço de aplicativo.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519672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Atlas entrega isso por R$ 24,90/mês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1750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868680" y="57332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lacuna é a mesma nos dois mercados: </a:t>
            </a:r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o sistema completo, em português, por preço acessível.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4440" y="-1188720"/>
            <a:ext cx="2103120" cy="2103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15133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11018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CRIA: 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estúdio completo de quem cria conteúdo</a:t>
            </a:r>
            <a:endParaRPr lang="en-US" sz="2900" dirty="0"/>
          </a:p>
        </p:txBody>
      </p:sp>
      <p:pic>
        <p:nvPicPr>
          <p:cNvPr id="7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" cy="5120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1835018"/>
            <a:ext cx="225308" cy="2253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1636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ciclo inteiro num lugar só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88720" y="198424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entra crua e sai post publicado: banco de ideias → quadro de produção → calendário. Nada se perde no caminho.</a:t>
            </a:r>
            <a:endParaRPr lang="en-US" sz="1150" dirty="0"/>
          </a:p>
        </p:txBody>
      </p:sp>
      <p:pic>
        <p:nvPicPr>
          <p:cNvPr id="11" name="Image 3" descr="assets/blob-blue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25496"/>
            <a:ext cx="512064" cy="51206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8" y="2968874"/>
            <a:ext cx="225308" cy="2253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IA com a voz do usuário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1188720" y="31181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brandbook (tom de voz, pilares, persona) conduz toda legenda, roteiro e sugestão. Não parece texto de robô.</a:t>
            </a:r>
            <a:endParaRPr lang="en-US" sz="1150" dirty="0"/>
          </a:p>
        </p:txBody>
      </p:sp>
      <p:pic>
        <p:nvPicPr>
          <p:cNvPr id="15" name="Image 5" descr="assets/blob-green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59352"/>
            <a:ext cx="512064" cy="51206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98" y="4102730"/>
            <a:ext cx="225308" cy="2253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88720" y="3904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Cria Plano: o mês montado em 1 clique</a:t>
            </a:r>
            <a:endParaRPr lang="en-US" sz="1450" dirty="0"/>
          </a:p>
        </p:txBody>
      </p:sp>
      <p:sp>
        <p:nvSpPr>
          <p:cNvPr id="18" name="Text 9"/>
          <p:cNvSpPr/>
          <p:nvPr/>
        </p:nvSpPr>
        <p:spPr>
          <a:xfrm>
            <a:off x="1188720" y="4251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Tema, formato, gancho, data e horário de cada post, a partir do que já performou no perfil do usuário.</a:t>
            </a:r>
            <a:endParaRPr lang="en-US" sz="1150" dirty="0"/>
          </a:p>
        </p:txBody>
      </p:sp>
      <p:pic>
        <p:nvPicPr>
          <p:cNvPr id="19" name="Image 7" descr="assets/blob-pink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093208"/>
            <a:ext cx="512064" cy="51206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98" y="5236586"/>
            <a:ext cx="225308" cy="22530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188720" y="5038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o estúdio completo junto</a:t>
            </a:r>
            <a:endParaRPr lang="en-US" sz="1450" dirty="0"/>
          </a:p>
        </p:txBody>
      </p:sp>
      <p:sp>
        <p:nvSpPr>
          <p:cNvPr id="22" name="Text 11"/>
          <p:cNvSpPr/>
          <p:nvPr/>
        </p:nvSpPr>
        <p:spPr>
          <a:xfrm>
            <a:off x="1188720" y="538581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planejados, teleprompter, media kit, link na bio, tendências do nicho e insights reais do Instagram.</a:t>
            </a:r>
            <a:endParaRPr lang="en-US" sz="1150" dirty="0"/>
          </a:p>
        </p:txBody>
      </p:sp>
      <p:sp>
        <p:nvSpPr>
          <p:cNvPr id="23" name="Shape 12"/>
          <p:cNvSpPr/>
          <p:nvPr/>
        </p:nvSpPr>
        <p:spPr>
          <a:xfrm>
            <a:off x="6245352" y="1627632"/>
            <a:ext cx="5522976" cy="3410712"/>
          </a:xfrm>
          <a:prstGeom prst="roundRect">
            <a:avLst>
              <a:gd name="adj" fmla="val 2413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27000" dist="38100" dir="5400000">
              <a:srgbClr val="3A3225">
                <a:alpha val="25000"/>
              </a:srgbClr>
            </a:outerShdw>
          </a:effectLst>
        </p:spPr>
      </p:sp>
      <p:pic>
        <p:nvPicPr>
          <p:cNvPr id="24" name="Image 9" descr="assets/cria-plan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1691640"/>
            <a:ext cx="5394960" cy="328269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309360" y="5093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do CRIA: o Cria Plano montando o mês inteiro do criador.</a:t>
            </a:r>
            <a:endParaRPr lang="en-US" sz="1050" dirty="0"/>
          </a:p>
        </p:txBody>
      </p:sp>
      <p:sp>
        <p:nvSpPr>
          <p:cNvPr id="26" name="Text 14"/>
          <p:cNvSpPr/>
          <p:nvPr/>
        </p:nvSpPr>
        <p:spPr>
          <a:xfrm rot="-120000">
            <a:off x="6766560" y="5623560"/>
            <a:ext cx="44805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app.criasocialclub.com.br · no ar e cobrando ✓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566928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6164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32049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1 · MODELO DE NEGÓCIO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Um sistema,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dois públicos pagantes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41605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83664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037283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6192" y="1947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criador de conteúdo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296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mensal, teste grátis de 7 dias: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22960" y="2926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200400" y="29260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R$ 19,90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 (ticket médio usado no plano)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00400" y="3310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R$ 32,90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2960" y="36941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00400" y="36941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R$ 49,90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" y="4215384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um combo de ferramentas avulsas de R$ 200+/mês. Por isso converte.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828032" y="1645920"/>
            <a:ext cx="416052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0" name="Image 3" descr="assets/blob-blu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883664"/>
            <a:ext cx="548640" cy="54864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691" y="2037283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61304" y="1947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social media (gestor)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5148072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grátis + módulos à la carte: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148072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Post (aprovação por link)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7724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R$ 19,90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148072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Captação (dia de gravação)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77240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R$ 19,90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148072" y="3566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Caixa (financeiro)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772400" y="3566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R$ 24,90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148072" y="3886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Gestão (CRM*)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772400" y="3886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R$ 29,90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148072" y="42062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Radar (concorrentes)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772400" y="4206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R$ 49,90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148072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Carteira: cada +10 clientes**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772400" y="4526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R$ 19,90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148072" y="49011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típico: R$ 74,70/mês.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*CRM = gestão de clientes e vendas. **os 3 primeiros clientes são grátis.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9400032" y="1581912"/>
            <a:ext cx="1938528" cy="4059936"/>
          </a:xfrm>
          <a:prstGeom prst="roundRect">
            <a:avLst>
              <a:gd name="adj" fmla="val 4245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27000" dist="38100" dir="5400000">
              <a:srgbClr val="3A3225">
                <a:alpha val="25000"/>
              </a:srgbClr>
            </a:outerShdw>
          </a:effectLst>
        </p:spPr>
      </p:sp>
      <p:pic>
        <p:nvPicPr>
          <p:cNvPr id="38" name="Image 5" descr="assets/portal-mob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645920"/>
            <a:ext cx="1810512" cy="39319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89720" y="5687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aprovação com a marca do cliente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" y="5742432"/>
            <a:ext cx="8485632" cy="658368"/>
          </a:xfrm>
          <a:prstGeom prst="roundRect">
            <a:avLst>
              <a:gd name="adj" fmla="val 19444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822960" y="58430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rede: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Modo Agência, cada cliente do social media ganha uma conta CRIA: o gestor puxa o criador pra dentro do sistema.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blu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-105156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15133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11018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Atlas: 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mapa do futuro financeiro</a:t>
            </a:r>
            <a:endParaRPr lang="en-US" sz="2900" dirty="0"/>
          </a:p>
        </p:txBody>
      </p:sp>
      <p:pic>
        <p:nvPicPr>
          <p:cNvPr id="7" name="Image 1" descr="assets/blob-blu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12064" cy="5120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8" y="1835018"/>
            <a:ext cx="225308" cy="2253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16367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Retrovisor, não: mapa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88720" y="198424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de gastos mostram o passado. O Atlas responde: onde estou (Atlas Score, nota 0-100 em 7 pilares), qual o próximo passo e o que muda se eu decidir diferente.</a:t>
            </a:r>
            <a:endParaRPr lang="en-US" sz="1150" dirty="0"/>
          </a:p>
        </p:txBody>
      </p:sp>
      <p:pic>
        <p:nvPicPr>
          <p:cNvPr id="11" name="Image 3" descr="assets/blob-green-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52344"/>
            <a:ext cx="512064" cy="51206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8" y="2895722"/>
            <a:ext cx="225308" cy="2253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2697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Método Atlas: 5 relatórios de consultor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1188720" y="304495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Gerados por IA sobre os dados do usuário, criados a partir do estudo de 300+ planejamentos de famílias reais.</a:t>
            </a:r>
            <a:endParaRPr lang="en-US" sz="1150" dirty="0"/>
          </a:p>
        </p:txBody>
      </p:sp>
      <p:pic>
        <p:nvPicPr>
          <p:cNvPr id="15" name="Image 5" descr="assets/blob-orange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13048"/>
            <a:ext cx="512064" cy="512064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98" y="3956426"/>
            <a:ext cx="225308" cy="22530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88720" y="3758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Simulador de decisão</a:t>
            </a:r>
            <a:endParaRPr lang="en-US" sz="1450" dirty="0"/>
          </a:p>
        </p:txBody>
      </p:sp>
      <p:sp>
        <p:nvSpPr>
          <p:cNvPr id="18" name="Text 9"/>
          <p:cNvSpPr/>
          <p:nvPr/>
        </p:nvSpPr>
        <p:spPr>
          <a:xfrm>
            <a:off x="1188720" y="4105656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cenários (trocar de carro, comprar imóvel, ter filho...), aposentadoria com 3 caminhos, consórcio × financiamento.</a:t>
            </a:r>
            <a:endParaRPr lang="en-US" sz="1150" dirty="0"/>
          </a:p>
        </p:txBody>
      </p:sp>
      <p:pic>
        <p:nvPicPr>
          <p:cNvPr id="19" name="Image 7" descr="assets/blob-pink-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873752"/>
            <a:ext cx="512064" cy="51206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98" y="5017130"/>
            <a:ext cx="225308" cy="22530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188720" y="48188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Atlas Negócios (PJ)</a:t>
            </a:r>
            <a:endParaRPr lang="en-US" sz="1450" dirty="0"/>
          </a:p>
        </p:txBody>
      </p:sp>
      <p:sp>
        <p:nvSpPr>
          <p:cNvPr id="22" name="Text 11"/>
          <p:cNvSpPr/>
          <p:nvPr/>
        </p:nvSpPr>
        <p:spPr>
          <a:xfrm>
            <a:off x="1188720" y="51663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lado empresa pra autônomos e MEIs: previsão de caixa, alocação de lucro e score de saúde do negócio.</a:t>
            </a:r>
            <a:endParaRPr lang="en-US" sz="1150" dirty="0"/>
          </a:p>
        </p:txBody>
      </p:sp>
      <p:sp>
        <p:nvSpPr>
          <p:cNvPr id="23" name="Shape 12"/>
          <p:cNvSpPr/>
          <p:nvPr/>
        </p:nvSpPr>
        <p:spPr>
          <a:xfrm>
            <a:off x="7525512" y="1627632"/>
            <a:ext cx="1883664" cy="3941064"/>
          </a:xfrm>
          <a:prstGeom prst="roundRect">
            <a:avLst>
              <a:gd name="adj" fmla="val 4369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27000" dist="38100" dir="5400000">
              <a:srgbClr val="3A3225">
                <a:alpha val="25000"/>
              </a:srgbClr>
            </a:outerShdw>
          </a:effectLst>
        </p:spPr>
      </p:sp>
      <p:pic>
        <p:nvPicPr>
          <p:cNvPr id="24" name="Image 9" descr="assets/atlas-hom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1691640"/>
            <a:ext cx="1755648" cy="3813048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9537192" y="1627632"/>
            <a:ext cx="1883664" cy="3941064"/>
          </a:xfrm>
          <a:prstGeom prst="roundRect">
            <a:avLst>
              <a:gd name="adj" fmla="val 4369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27000" dist="38100" dir="5400000">
              <a:srgbClr val="3A3225">
                <a:alpha val="25000"/>
              </a:srgbClr>
            </a:outerShdw>
          </a:effectLst>
        </p:spPr>
      </p:sp>
      <p:pic>
        <p:nvPicPr>
          <p:cNvPr id="26" name="Image 10" descr="assets/atlas-montanh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1691640"/>
            <a:ext cx="1755648" cy="381304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7498080" y="5650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reais: home com Atlas Score e a projeção patrimonial ("a montanha")</a:t>
            </a:r>
            <a:endParaRPr lang="en-US" sz="950" dirty="0"/>
          </a:p>
        </p:txBody>
      </p:sp>
      <p:sp>
        <p:nvSpPr>
          <p:cNvPr id="28" name="Text 15"/>
          <p:cNvSpPr/>
          <p:nvPr/>
        </p:nvSpPr>
        <p:spPr>
          <a:xfrm rot="-120000">
            <a:off x="640080" y="5925312"/>
            <a:ext cx="60350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Planos: R$ 15,90 · R$ 24,90 · R$ 32,90 · 7 dias grátis, sem cartão</a:t>
            </a:r>
            <a:endParaRPr lang="en-US" sz="1150" dirty="0"/>
          </a:p>
        </p:txBody>
      </p:sp>
      <p:sp>
        <p:nvSpPr>
          <p:cNvPr id="29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-1143000"/>
            <a:ext cx="2011680" cy="2011680"/>
          </a:xfrm>
          <a:prstGeom prst="rect">
            <a:avLst/>
          </a:prstGeom>
        </p:spPr>
      </p:pic>
      <p:pic>
        <p:nvPicPr>
          <p:cNvPr id="3" name="Image 1" descr="assets/blob-pink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5806440"/>
            <a:ext cx="1371600" cy="1371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29855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DA OPORTUNIDADE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Os dois mercados estão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explodindo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645920"/>
            <a:ext cx="1118311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18105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Creator economy no Brasil (economia dos criadores de conteúdo)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22960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US$ 5,5 bi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288950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do mercado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2025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84448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US$ 33,5 bi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584448" y="288950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pra 2034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(cresce ~22% ao ano)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345936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milhões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345936" y="288950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criadores no Brasil,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dobro de um ano antes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107424" y="22860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61%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107424" y="288950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profissionais de marketing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vão investir MAIS em criadores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4069080"/>
            <a:ext cx="1118311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2960" y="4233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Finanças pessoais no Brasil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22960" y="4709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Milhões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22960" y="53126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brasileiros já usam apps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controle de gastos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584448" y="4709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R$ 650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3584448" y="53126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consulta de um planejador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humano (CFP)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345936" y="4709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R$ 2.400/ano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345936" y="53126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acompanhamento anual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um profissional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9107424" y="4709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R$ 298/ano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9107424" y="53126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Atlas Pro fazendo o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estrutural disso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291840" y="64739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Mundo do Marketing / relatórios creator economy 2026 · ANBIMA (custo de planejador financeiro)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-91440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· CRIA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mercado vende picado.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CRIA é o único inteiro.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722376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o profissional precisa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Como o mercado resolve hoje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22494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e aprovar posts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22494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mLabs: R$ 29,90/mês por marca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27980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 relatórios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06240" y="2798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Metricool ~R$ 49 · Reportei R$ 74,90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33467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(gestão de clientes)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206240" y="3346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Pipedrive ~R$ 80/usuário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38953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do gestor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206240" y="3895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feita na mão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44439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Ideias, roteiro e legenda com IA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206240" y="44439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solto, sem contexto da marca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499262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conversando entre si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206240" y="49926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a integração, na mão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09560" y="1691640"/>
            <a:ext cx="3776472" cy="3977640"/>
          </a:xfrm>
          <a:prstGeom prst="roundRect">
            <a:avLst>
              <a:gd name="adj" fmla="val 3390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3" name="Image 1" descr="assets/blob-yellow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508760"/>
            <a:ext cx="1051560" cy="1051560"/>
          </a:xfrm>
          <a:prstGeom prst="rect">
            <a:avLst/>
          </a:prstGeom>
        </p:spPr>
      </p:pic>
      <p:pic>
        <p:nvPicPr>
          <p:cNvPr id="24" name="Image 2" descr="assets/logo-cria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920240"/>
            <a:ext cx="1234440" cy="6766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29600" y="27432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só, em português:
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post aprovado já entra no relatório, o cliente novo já entra no financeiro, a IA já conhece a marca.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2960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R$ 74,70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combo do gestor, contra R$ 200+ do quebra-cabeça atual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02920" y="5870448"/>
            <a:ext cx="11183112" cy="621792"/>
          </a:xfrm>
          <a:prstGeom prst="roundRect">
            <a:avLst>
              <a:gd name="adj" fmla="val 20588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6868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se divide em agendadores e ferramentas de gestão. </a:t>
            </a:r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junta o ciclo criativo + CRM + financeiro + IA no tom da marca. É essa junção que o CRIA fecha, e é difícil de copiar.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25880" y="544068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670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· ATLAS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80467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Todo mundo olha o passado. </a:t>
            </a:r>
            <a:pPr indent="0" marL="0">
              <a:buNone/>
            </a:pPr>
            <a:r>
              <a:rPr lang="en-US" sz="25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Atlas projeta o futuro.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94360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Mobills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93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R$ 19,90/mês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46120" y="17647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gastos e cartões. Retrovisor.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606040"/>
            <a:ext cx="594360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Organizze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R$ 16,90/mês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26791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e orçamento do mês. Retrovisor.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520440"/>
            <a:ext cx="594360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Encaixei e similares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3922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R$ 9,90/mês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46120" y="35935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simples do mês. Retrovisor.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4434840"/>
            <a:ext cx="594360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YNAB (EUA)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" y="4837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US$ 15/mês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46120" y="45079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Orçamento, em inglês e dólar. Sem Brasil.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5349240"/>
            <a:ext cx="5943600" cy="7680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229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Planejador humano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751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R$ 2.400/ano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46120" y="54223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plano de verdade, mas não escala e é caro.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675120" y="1691640"/>
            <a:ext cx="5010912" cy="4526280"/>
          </a:xfrm>
          <a:prstGeom prst="roundRect">
            <a:avLst>
              <a:gd name="adj" fmla="val 2828"/>
            </a:avLst>
          </a:prstGeom>
          <a:solidFill>
            <a:srgbClr val="2A4BD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8" name="Image 1" descr="assets/logo-atla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01952"/>
            <a:ext cx="1234440" cy="110642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4088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Único no Brasil que entrega: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040880" y="35661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Projeção do patrimônio até o fim da vida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Simulador de decisões (8 cenários reais)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relatórios de consultor gerados por 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Aposentadoria com 3 caminhos calculados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PJ pra autônomos (Atlas Negócios)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040880" y="5577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R$ 24,90/mês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(12× mais barato que o humano)</a:t>
            </a: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50292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sites e comparativos públicos dos apps (2026) · ANBIMA</a:t>
            </a:r>
            <a:endParaRPr lang="en-US" sz="900" dirty="0"/>
          </a:p>
        </p:txBody>
      </p:sp>
      <p:pic>
        <p:nvPicPr>
          <p:cNvPr id="33" name="Image 2" descr="assets/st-mochi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1371600"/>
            <a:ext cx="868680" cy="94421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4440" y="-114300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4061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DE QUE O MERCADO PAGA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Quantos já pagam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um pedaço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disso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2148840" cy="30175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19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8653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mLabs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69848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85800" y="2514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145 mil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85800" y="3108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e agências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685800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só agenda e aprova posts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2761488" y="1691640"/>
            <a:ext cx="2148840" cy="30175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5" name="Image 2" descr="assets/blob-blu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190195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28416" y="18653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Metricool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328416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944368" y="2514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milhões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2944368" y="3108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usuários · US$ 15 mi/ano, vendida por €100 mi+</a:t>
            </a:r>
            <a:endParaRPr lang="en-US" sz="980" dirty="0"/>
          </a:p>
        </p:txBody>
      </p:sp>
      <p:sp>
        <p:nvSpPr>
          <p:cNvPr id="20" name="Text 15"/>
          <p:cNvSpPr/>
          <p:nvPr/>
        </p:nvSpPr>
        <p:spPr>
          <a:xfrm>
            <a:off x="2944368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só faz métricas e agendamento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5020056" y="1691640"/>
            <a:ext cx="2148840" cy="30175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2" name="Image 3" descr="assets/blob-pink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19019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86984" y="18653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Reportei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586984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202936" y="2514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 mil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5202936" y="3108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em 50 países</a:t>
            </a:r>
            <a:endParaRPr lang="en-US" sz="980" dirty="0"/>
          </a:p>
        </p:txBody>
      </p:sp>
      <p:sp>
        <p:nvSpPr>
          <p:cNvPr id="27" name="Text 21"/>
          <p:cNvSpPr/>
          <p:nvPr/>
        </p:nvSpPr>
        <p:spPr>
          <a:xfrm>
            <a:off x="5202936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só faz relatórios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7278624" y="1691640"/>
            <a:ext cx="2148840" cy="30175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9" name="Image 4" descr="assets/blob-green-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90195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45552" y="18653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Pipedrive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845552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7461504" y="2514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100 mil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7461504" y="3108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pagantes</a:t>
            </a:r>
            <a:endParaRPr lang="en-US" sz="980" dirty="0"/>
          </a:p>
        </p:txBody>
      </p:sp>
      <p:sp>
        <p:nvSpPr>
          <p:cNvPr id="34" name="Text 27"/>
          <p:cNvSpPr/>
          <p:nvPr/>
        </p:nvSpPr>
        <p:spPr>
          <a:xfrm>
            <a:off x="7461504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só faz CRM (gestão de clientes)</a:t>
            </a:r>
            <a:endParaRPr lang="en-US" sz="980" dirty="0"/>
          </a:p>
        </p:txBody>
      </p:sp>
      <p:sp>
        <p:nvSpPr>
          <p:cNvPr id="35" name="Shape 28"/>
          <p:cNvSpPr/>
          <p:nvPr/>
        </p:nvSpPr>
        <p:spPr>
          <a:xfrm>
            <a:off x="9537192" y="1691640"/>
            <a:ext cx="2148840" cy="301752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36" name="Image 5" descr="assets/blob-yellow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190195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04120" y="18653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Mobills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10104120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9720072" y="2514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 mi+</a:t>
            </a:r>
            <a:endParaRPr lang="en-US" sz="2400" dirty="0"/>
          </a:p>
        </p:txBody>
      </p:sp>
      <p:sp>
        <p:nvSpPr>
          <p:cNvPr id="40" name="Text 32"/>
          <p:cNvSpPr/>
          <p:nvPr/>
        </p:nvSpPr>
        <p:spPr>
          <a:xfrm>
            <a:off x="9720072" y="3108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downloads</a:t>
            </a:r>
            <a:endParaRPr lang="en-US" sz="980" dirty="0"/>
          </a:p>
        </p:txBody>
      </p:sp>
      <p:sp>
        <p:nvSpPr>
          <p:cNvPr id="41" name="Text 33"/>
          <p:cNvSpPr/>
          <p:nvPr/>
        </p:nvSpPr>
        <p:spPr>
          <a:xfrm>
            <a:off x="9720072" y="3977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só olha o gasto passado (retrovisor)</a:t>
            </a:r>
            <a:endParaRPr lang="en-US" sz="980" dirty="0"/>
          </a:p>
        </p:txBody>
      </p:sp>
      <p:sp>
        <p:nvSpPr>
          <p:cNvPr id="42" name="Shape 34"/>
          <p:cNvSpPr/>
          <p:nvPr/>
        </p:nvSpPr>
        <p:spPr>
          <a:xfrm>
            <a:off x="502920" y="4983480"/>
            <a:ext cx="11183112" cy="960120"/>
          </a:xfrm>
          <a:prstGeom prst="roundRect">
            <a:avLst>
              <a:gd name="adj" fmla="val 13333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uma dessas empresas construiu um negócio grande vendendo UM pedaço da solução.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e Atlas entregam o pacote inteiro, em português, por menos. E a nossa meta de 1.000 assinantes é só 0,7% da base da mLabs sozinha.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mLabs (site oficial) · Metricool/team.blue (Minimum) · Reportei/ABRAMARK · Pipedrive (site oficial) · Mobills (blog oficial, downloads 2020)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-960120"/>
            <a:ext cx="1920240" cy="1920240"/>
          </a:xfrm>
          <a:prstGeom prst="rect">
            <a:avLst/>
          </a:prstGeom>
        </p:spPr>
      </p:pic>
      <p:pic>
        <p:nvPicPr>
          <p:cNvPr id="3" name="Image 1" descr="assets/blob-yellow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5577840"/>
            <a:ext cx="1737360" cy="1737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agora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é a hora certa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69164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9" name="Image 2" descr="assets/blob-blue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65960"/>
            <a:ext cx="585216" cy="585216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88" y="2129820"/>
            <a:ext cx="257495" cy="2574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480" y="20025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IA barateou o premium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795528" y="269748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um 'consultor' ou um 'estrategista de conteúdo' automatizado custava uma equipe. Hoje custa centavos por usuário, e nós dois já construímos isso.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199632" y="169164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4" name="Image 4" descr="assets/blob-green-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65960"/>
            <a:ext cx="585216" cy="58521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100" y="2129820"/>
            <a:ext cx="257495" cy="25749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251192" y="20025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Os dois mercados em disparada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6492240" y="269748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crescendo ~22% ao ano no Brasil; educação financeira virou pauta nacional. A demanda existe e cresce sozinha.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502920" y="406908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9" name="Image 6" descr="assets/blob-orange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343400"/>
            <a:ext cx="585216" cy="585216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388" y="4507260"/>
            <a:ext cx="257495" cy="25749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554480" y="43799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Canal novo, barato e vazio</a:t>
            </a:r>
            <a:endParaRPr lang="en-US" sz="1550" dirty="0"/>
          </a:p>
        </p:txBody>
      </p:sp>
      <p:sp>
        <p:nvSpPr>
          <p:cNvPr id="22" name="Text 12"/>
          <p:cNvSpPr/>
          <p:nvPr/>
        </p:nvSpPr>
        <p:spPr>
          <a:xfrm>
            <a:off x="795528" y="507492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ChatGPT Ads chegou ao Brasil em 2026 com pouquíssima concorrência de anúncio. Quem entra cedo paga menos por cliente (menor CAC).</a:t>
            </a:r>
            <a:endParaRPr lang="en-US" sz="1250" dirty="0"/>
          </a:p>
        </p:txBody>
      </p:sp>
      <p:sp>
        <p:nvSpPr>
          <p:cNvPr id="23" name="Shape 13"/>
          <p:cNvSpPr/>
          <p:nvPr/>
        </p:nvSpPr>
        <p:spPr>
          <a:xfrm>
            <a:off x="6199632" y="406908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4" name="Image 8" descr="assets/blob-pink-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343400"/>
            <a:ext cx="585216" cy="585216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6100" y="4507260"/>
            <a:ext cx="257495" cy="25749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251192" y="43799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janela está aberta</a:t>
            </a:r>
            <a:endParaRPr lang="en-US" sz="1550" dirty="0"/>
          </a:p>
        </p:txBody>
      </p:sp>
      <p:sp>
        <p:nvSpPr>
          <p:cNvPr id="27" name="Text 15"/>
          <p:cNvSpPr/>
          <p:nvPr/>
        </p:nvSpPr>
        <p:spPr>
          <a:xfrm>
            <a:off x="6492240" y="5074920"/>
            <a:ext cx="4901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grande juntou as pontas ainda, nem no conteúdo, nem nas finanças. Quem consolidar primeiro vira o padrão do mercado.</a:t>
            </a:r>
            <a:endParaRPr lang="en-US" sz="1250" dirty="0"/>
          </a:p>
        </p:txBody>
      </p:sp>
      <p:sp>
        <p:nvSpPr>
          <p:cNvPr id="2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-9601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670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· O PLANO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estratégia: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fases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em 12 meses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385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9385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490472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Fundação e marca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90472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1-2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77240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gastar R$ 1 em anúncio: perfis fortes, criativos e vídeos do produto, depoimentos reais de usuários, medição instalada (pixel) e marcas registradas no INPI. Anúncio sem base queima dinheiro.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14800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288536" y="16916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5" name="Image 2" descr="assets/blob-green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93852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19385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5276088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Aquisição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76088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9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2-6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62856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máquina liga: tráfego pago (Meta + ChatGPT Ads), UGC com criadores de nicho, parcerias com quem já fala com o nosso público. Testar criativo, medir custo por assinante, desligar o que não converte. Meta: 1.000 assinantes.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900416" y="3246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8074152" y="16916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2" name="Image 3" descr="assets/blob-blu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938528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11312" y="19385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061704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Escala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061704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6-12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348472" y="278892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Dobrar a aposta só no que provou funcionar: mais verba nos criativos vencedores, equipe entra (dev + atendimento) paga pela própria receita, e o Atlas passa a receber mais atenção e verba.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02920" y="5715000"/>
            <a:ext cx="11183112" cy="685800"/>
          </a:xfrm>
          <a:prstGeom prst="roundRect">
            <a:avLst>
              <a:gd name="adj" fmla="val 18667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68680" y="583387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jogo: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só acelera quando a anterior prova que funciona. Nada de queimar verba no escuro.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4440" y="-109728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09067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· A SEQUÊNCIA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CRIA primeiro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e Atlas em seguida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8385048" cy="566928"/>
          </a:xfrm>
          <a:prstGeom prst="roundRect">
            <a:avLst>
              <a:gd name="adj" fmla="val 45161"/>
            </a:avLst>
          </a:prstGeom>
          <a:solidFill>
            <a:srgbClr val="CE4A1D"/>
          </a:solidFill>
          <a:ln/>
        </p:spPr>
      </p:sp>
      <p:sp>
        <p:nvSpPr>
          <p:cNvPr id="8" name="Shape 5"/>
          <p:cNvSpPr/>
          <p:nvPr/>
        </p:nvSpPr>
        <p:spPr>
          <a:xfrm>
            <a:off x="8942832" y="1737360"/>
            <a:ext cx="2743200" cy="566928"/>
          </a:xfrm>
          <a:prstGeom prst="roundRect">
            <a:avLst>
              <a:gd name="adj" fmla="val 45161"/>
            </a:avLst>
          </a:prstGeom>
          <a:solidFill>
            <a:srgbClr val="2A4BD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7830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75% do esforço e da verba: CRIA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8972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25%: Atlas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606040"/>
            <a:ext cx="548640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CRIA: o motor de arranque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2918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públicos pagantes no mesmo sistema (criador + social media)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é aguda e consciente: quem sofre já paga 4 ferramentas hoje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maior e módulos que somam (combo R$ 74,70)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fraca no "tudo-em-um": janela aberta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99632" y="2606040"/>
            <a:ext cx="548640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9672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Atlas: em ritmo de validação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19672" y="32918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com verba menor, testando criativos e canais sem pressa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Aproveita o manual do CRIA: mesma esteira de criativo e tráfego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Anunciar finanças é mais disputado (caro): entrar refinado economiza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CRIA se pagar, o Atlas recebe o foco com a máquina pronta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5715000"/>
            <a:ext cx="11183112" cy="685800"/>
          </a:xfrm>
          <a:prstGeom prst="roundRect">
            <a:avLst>
              <a:gd name="adj" fmla="val 18667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" y="583387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1: o CRIA consolida e passa a pagar a operação. Ano 2: o foco extra vira pro Atlas. </a:t>
            </a:r>
            <a:pPr indent="0" marL="0">
              <a:buNone/>
            </a:pPr>
            <a:r>
              <a:rPr lang="en-US" sz="13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financia a rampa do outro, sem dividir o tiro no início.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-822960"/>
            <a:ext cx="164592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7752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F27EB5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363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· AS ARMAS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UGC: 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anúncio que não parece anúncio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54864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pink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3664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037283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760" y="1920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é UGC?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77240" y="25054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Sigla de "user generated content": conteúdo no estilo de quem usa. Um criador comum grava mostrando como usa o CRIA no dia a dia dele, com cara de vídeo de celular, não de comercial.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199632" y="1645920"/>
            <a:ext cx="54864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3" descr="assets/blob-orang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83664"/>
            <a:ext cx="548640" cy="54864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1" y="2037283"/>
            <a:ext cx="241402" cy="2414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05472" y="1920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funciona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473952" y="25054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 recomendação de amigo, não propaganda. Gera confiança, e os melhores vídeos viram anúncio pago: quando o criativo é bom, o custo por assinante (CAC) despenca.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02920" y="3840480"/>
            <a:ext cx="54864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8" name="Image 5" descr="assets/blob-blue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78224"/>
            <a:ext cx="548640" cy="54864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859" y="4231843"/>
            <a:ext cx="241402" cy="24140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508760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que vamos encomendar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777240" y="470001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"Minha rotina de planejar a semana no CRIA" · social media mostrando o cliente aprovando pelo link · "quanto tempo eu economizei" · antes/depois da organização.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6199632" y="3840480"/>
            <a:ext cx="54864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3" name="Image 7" descr="assets/blob-green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078224"/>
            <a:ext cx="548640" cy="54864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7571" y="4231843"/>
            <a:ext cx="241402" cy="24140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205472" y="4114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criadores de nicho</a:t>
            </a:r>
            <a:endParaRPr lang="en-US" sz="1500" dirty="0"/>
          </a:p>
        </p:txBody>
      </p:sp>
      <p:sp>
        <p:nvSpPr>
          <p:cNvPr id="26" name="Text 15"/>
          <p:cNvSpPr/>
          <p:nvPr/>
        </p:nvSpPr>
        <p:spPr>
          <a:xfrm>
            <a:off x="6473952" y="470001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cria conteúdo segue quem cria conteúdo. Um criador do fitness, da estética ou da gastronomia mostrando o CRIA fala direto com criadores e social medias daquele nicho, que são exatamente quem paga a assinatura.</a:t>
            </a:r>
            <a:endParaRPr lang="en-US" sz="1150" dirty="0"/>
          </a:p>
        </p:txBody>
      </p:sp>
      <p:sp>
        <p:nvSpPr>
          <p:cNvPr id="27" name="Shape 16"/>
          <p:cNvSpPr/>
          <p:nvPr/>
        </p:nvSpPr>
        <p:spPr>
          <a:xfrm>
            <a:off x="502920" y="5961888"/>
            <a:ext cx="11183112" cy="475488"/>
          </a:xfrm>
          <a:prstGeom prst="roundRect">
            <a:avLst>
              <a:gd name="adj" fmla="val 26923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8" name="Text 17"/>
          <p:cNvSpPr/>
          <p:nvPr/>
        </p:nvSpPr>
        <p:spPr>
          <a:xfrm>
            <a:off x="868680" y="601675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públis/mês (R$ 450 a R$ 1.250 cada),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cada uma vira material de anúncio também: paga uma vez, roda o mês inteiro.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-lamp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28600"/>
            <a:ext cx="1188720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F2C21E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1943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DOS NÚMEROS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Economês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traduzido</a:t>
            </a:r>
            <a:pPr indent="0" marL="0">
              <a:buNone/>
            </a:pPr>
            <a:r>
              <a:rPr lang="en-US" sz="20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(os 6 termos que vamos usar)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9933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56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Ticket médio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8952" y="2487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um assinante paga por mês, na média. Aqui: ~R$ 31 (mistura de CRIA e Atlas).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2" name="Image 2" descr="assets/blob-blu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99339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1956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MRR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53712" y="2487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"Receita recorrente mensal": a soma das mensalidades que caem todo mês. É o "aluguel" que o negócio recebe.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9244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6" name="Image 3" descr="assets/blob-green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99339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8240" y="1956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CAC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348472" y="2487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 de aquisição de cliente": quanto gastamos de marketing pra conquistar 1 assinante pagante.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0292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0" name="Image 4" descr="assets/blob-pink-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27939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4242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Churn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58952" y="4773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de assinantes que cancela por mês. Usamos de 4% a 7% nas contas, padrão do setor.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29768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4" name="Image 5" descr="assets/blob-yellow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427939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83480" y="4242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LTV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553712" y="4773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"Valor do tempo de vida": tudo que 1 assinante paga, somado, do dia que entra até cancelar.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09244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8" name="Image 6" descr="assets/blob-orange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4279392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778240" y="424281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Valuation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8348472" y="4773168"/>
            <a:ext cx="3081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o negócio inteiro vale numa negociação. Define quanto cada % de participação custa.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blu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-82296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DE EXECUÇÃO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máquina de crescimento: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R$ 18,9 mil/mês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7406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01368"/>
            <a:ext cx="530352" cy="53035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1" y="1949867"/>
            <a:ext cx="233355" cy="233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17465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Tráfego pago (anúncios)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417320" y="2075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no CRIA, 25% no Atlas. O CRIA escala primeiro; o Atlas entra no vácuo.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309360" y="174650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R$ 10.000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02920" y="2532888"/>
            <a:ext cx="7406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4" name="Image 3" descr="assets/blob-pink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42616"/>
            <a:ext cx="530352" cy="530352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31" y="2791115"/>
            <a:ext cx="233355" cy="2333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2587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UGC e influenciadores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1417320" y="291693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publicações/mês (R$ 450 a R$ 1.250 cada): criadores mostrando o CRIA em uso real.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309360" y="258775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7EB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R$ 3.400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502920" y="3374136"/>
            <a:ext cx="7406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0" name="Image 5" descr="assets/blob-green-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483864"/>
            <a:ext cx="530352" cy="530352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731" y="3632363"/>
            <a:ext cx="233355" cy="23335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1732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Parcerias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1417320" y="3758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Comissões e acordos com quem já fala com o nosso público.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6309360" y="34290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R$ 2.500</a:t>
            </a:r>
            <a:endParaRPr lang="en-US" sz="1600" dirty="0"/>
          </a:p>
        </p:txBody>
      </p:sp>
      <p:sp>
        <p:nvSpPr>
          <p:cNvPr id="25" name="Shape 16"/>
          <p:cNvSpPr/>
          <p:nvPr/>
        </p:nvSpPr>
        <p:spPr>
          <a:xfrm>
            <a:off x="502920" y="4215384"/>
            <a:ext cx="7406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6" name="Image 7" descr="assets/blob-blue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25112"/>
            <a:ext cx="530352" cy="530352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731" y="4473611"/>
            <a:ext cx="233355" cy="23335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417320" y="4270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Videomaker + motion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1417320" y="4599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Animações e vídeos dos anúncios (2-3 vídeos/mês por perfil, ~R$ 300 a edição).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6309360" y="42702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R$ 2.000</a:t>
            </a:r>
            <a:endParaRPr lang="en-US" sz="1600" dirty="0"/>
          </a:p>
        </p:txBody>
      </p:sp>
      <p:sp>
        <p:nvSpPr>
          <p:cNvPr id="31" name="Shape 20"/>
          <p:cNvSpPr/>
          <p:nvPr/>
        </p:nvSpPr>
        <p:spPr>
          <a:xfrm>
            <a:off x="502920" y="5056632"/>
            <a:ext cx="7406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32" name="Image 9" descr="assets/blob-yellow-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5166360"/>
            <a:ext cx="530352" cy="530352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731" y="5314859"/>
            <a:ext cx="233355" cy="233355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417320" y="51114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Design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1417320" y="5440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posts CRIA + 8 posts Atlas (R$ 50 por post, valor já praticado hoje).</a:t>
            </a:r>
            <a:endParaRPr lang="en-US" sz="1000" dirty="0"/>
          </a:p>
        </p:txBody>
      </p:sp>
      <p:sp>
        <p:nvSpPr>
          <p:cNvPr id="36" name="Text 23"/>
          <p:cNvSpPr/>
          <p:nvPr/>
        </p:nvSpPr>
        <p:spPr>
          <a:xfrm>
            <a:off x="6309360" y="511149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R$ 1.000</a:t>
            </a:r>
            <a:endParaRPr lang="en-US" sz="1600" dirty="0"/>
          </a:p>
        </p:txBody>
      </p:sp>
      <p:sp>
        <p:nvSpPr>
          <p:cNvPr id="37" name="Shape 24"/>
          <p:cNvSpPr/>
          <p:nvPr/>
        </p:nvSpPr>
        <p:spPr>
          <a:xfrm>
            <a:off x="502920" y="5916168"/>
            <a:ext cx="7406640" cy="548640"/>
          </a:xfrm>
          <a:prstGeom prst="roundRect">
            <a:avLst>
              <a:gd name="adj" fmla="val 23333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8" name="Text 25"/>
          <p:cNvSpPr/>
          <p:nvPr/>
        </p:nvSpPr>
        <p:spPr>
          <a:xfrm>
            <a:off x="868680" y="59984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Total da máquina, por mês</a:t>
            </a:r>
            <a:endParaRPr lang="en-US" sz="1300" dirty="0"/>
          </a:p>
        </p:txBody>
      </p:sp>
      <p:sp>
        <p:nvSpPr>
          <p:cNvPr id="39" name="Text 26"/>
          <p:cNvSpPr/>
          <p:nvPr/>
        </p:nvSpPr>
        <p:spPr>
          <a:xfrm>
            <a:off x="5852160" y="5961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R$ 18.900</a:t>
            </a:r>
            <a:endParaRPr lang="en-US" sz="1800" dirty="0"/>
          </a:p>
        </p:txBody>
      </p:sp>
      <p:sp>
        <p:nvSpPr>
          <p:cNvPr id="40" name="Shape 27"/>
          <p:cNvSpPr/>
          <p:nvPr/>
        </p:nvSpPr>
        <p:spPr>
          <a:xfrm>
            <a:off x="8138160" y="1691640"/>
            <a:ext cx="3547872" cy="2148840"/>
          </a:xfrm>
          <a:prstGeom prst="roundRect">
            <a:avLst>
              <a:gd name="adj" fmla="val 5957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41" name="Image 11" descr="assets/blob-ink-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192" y="1901952"/>
            <a:ext cx="502920" cy="502920"/>
          </a:xfrm>
          <a:prstGeom prst="rect">
            <a:avLst/>
          </a:prstGeom>
        </p:spPr>
      </p:pic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5010" y="2042770"/>
            <a:ext cx="221285" cy="221285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9052560" y="1920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Uma vez só: marcas e propriedade intelectual</a:t>
            </a:r>
            <a:endParaRPr lang="en-US" sz="1200" dirty="0"/>
          </a:p>
        </p:txBody>
      </p:sp>
      <p:sp>
        <p:nvSpPr>
          <p:cNvPr id="44" name="Text 29"/>
          <p:cNvSpPr/>
          <p:nvPr/>
        </p:nvSpPr>
        <p:spPr>
          <a:xfrm>
            <a:off x="8394192" y="263347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~R$ 8.000 pra registrar as marcas CRIA e Atlas no INPI (o "cartório" das marcas) + registro dos softwares, com advogado.</a:t>
            </a:r>
            <a:endParaRPr lang="en-US" sz="1100" dirty="0"/>
          </a:p>
        </p:txBody>
      </p:sp>
      <p:sp>
        <p:nvSpPr>
          <p:cNvPr id="45" name="Shape 30"/>
          <p:cNvSpPr/>
          <p:nvPr/>
        </p:nvSpPr>
        <p:spPr>
          <a:xfrm>
            <a:off x="8138160" y="4023360"/>
            <a:ext cx="3547872" cy="2331720"/>
          </a:xfrm>
          <a:prstGeom prst="roundRect">
            <a:avLst>
              <a:gd name="adj" fmla="val 549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46" name="Image 13" descr="assets/blob-ink-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4192" y="4233672"/>
            <a:ext cx="502920" cy="502920"/>
          </a:xfrm>
          <a:prstGeom prst="rect">
            <a:avLst/>
          </a:prstGeom>
        </p:spPr>
      </p:pic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5010" y="4374490"/>
            <a:ext cx="221285" cy="221285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9052560" y="428853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partir do mês 7: equipe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8394192" y="47548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R$ 7.000 + atendimento (CS) R$ 3.000 por mês,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pela própria receita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quando estivermos chegando nos 1.000 assinantes. O aporte não banca folha.</a:t>
            </a:r>
            <a:endParaRPr lang="en-US" sz="1100" dirty="0"/>
          </a:p>
        </p:txBody>
      </p:sp>
      <p:sp>
        <p:nvSpPr>
          <p:cNvPr id="50" name="Text 3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51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557784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40370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3625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MATEMÁTICA DOS 1.000 ASSINANTES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custa chegar a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1.000 assinantes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3977640" cy="416052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 premissas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de SaaS ≈ 1 a 2× o ticket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(benchmark do nosso parceiro de tráfego)
→ entre R$ 33 e R$ 66 por assinante.
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 mil/mês de anúncio
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 162 a 324 assinantes novos por mês.
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Cancelamentos já descontados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(churn de 4% a 7% ao mês).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 rot="-180000">
            <a:off x="713232" y="4846320"/>
            <a:ext cx="3611880" cy="82296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Prova real: 1.000 × R$ 46 = R$ 46 mil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Bate com a conta do Walter ✓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709160" y="1691640"/>
          <a:ext cx="6949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074920" y="4114800"/>
            <a:ext cx="6309360" cy="0"/>
          </a:xfrm>
          <a:prstGeom prst="line">
            <a:avLst/>
          </a:prstGeom>
          <a:noFill/>
          <a:ln w="12700">
            <a:solidFill>
              <a:srgbClr val="17140F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5074920" y="3767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1.000 assinantes  →  mês 4 (otimista) · mês 6 (base) · mês 8 (conservador)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5715000"/>
            <a:ext cx="6976872" cy="731520"/>
          </a:xfrm>
          <a:prstGeom prst="roundRect">
            <a:avLst>
              <a:gd name="adj" fmla="val 17500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0" y="5852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1.000 assinantes: MRR de ~R$ 31 mil/mês,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máquina continua ligada: a meta seguinte é o teto de ~4.300.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-100584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1.000 não é o destino. </a:t>
            </a:r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É o primeiro degrau.</a:t>
            </a:r>
            <a:endParaRPr lang="en-US" sz="2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783080"/>
          <a:ext cx="60350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669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recorrente mensal (MRR) no cenário base, mantendo a máquina de R$ 18,9 mil/mês ligada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0" y="1783080"/>
            <a:ext cx="482803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178040" y="19110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R$ 735 mil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326880" y="1874520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receita anualizada (ARR) ao fim do ano 1 (cenário base)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0" y="3209544"/>
            <a:ext cx="482803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17804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~4.300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326880" y="3300984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assinantes é o teto natural DESTE nível de verba. Subir a verba = subir o teto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858000" y="4636008"/>
            <a:ext cx="482803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178040" y="47640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motores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9326880" y="472744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CRIA rodando liso, o foco extra vira pro Atlas, que tem o mesmo manual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 rot="-120000">
            <a:off x="7223760" y="5870448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E9E2D2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receita que entra é reinvestida: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isso a curva não para nos 1.000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-1005840"/>
            <a:ext cx="1828800" cy="1828800"/>
          </a:xfrm>
          <a:prstGeom prst="rect">
            <a:avLst/>
          </a:prstGeom>
        </p:spPr>
      </p:pic>
      <p:pic>
        <p:nvPicPr>
          <p:cNvPr id="3" name="Image 1" descr="assets/blob-pink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4440" y="5623560"/>
            <a:ext cx="1645920" cy="1645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29855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× CUSTO × LUCRO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quanto isso vira de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lucro?</a:t>
            </a:r>
            <a:endParaRPr lang="en-US" sz="2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691640"/>
          <a:ext cx="6126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502920" y="54406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R$ mil por mês, por número de assinantes. Custo total = taxas/impostos/infra (~30% da receita) + máquina de marketing + equipe crescendo junto.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6858000" y="1691640"/>
            <a:ext cx="4828032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7150608" y="19019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Assinantes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229600" y="1901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Lucro/ano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9646920" y="19019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010412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150608" y="23591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1.000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229600" y="2359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empate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646920" y="2359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01041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passa a se pagar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7150608" y="3108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2.000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296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R$ 136 mil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64692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0104120" y="3127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completa contratada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7150608" y="3858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5.000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29600" y="3858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R$ 638 mil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9646920" y="3858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0104120" y="3877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marketing ampliada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7150608" y="46085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10.000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229600" y="46085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R$ 1,4 milhão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9646920" y="4608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10104120" y="46268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anual R$ 3,7 mi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 rot="-120000">
            <a:off x="7589520" y="5029200"/>
            <a:ext cx="3657600" cy="68580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É esse lucro que remunera os sócios,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todo ano, além da valorização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02920" y="5943600"/>
            <a:ext cx="11183112" cy="566928"/>
          </a:xfrm>
          <a:prstGeom prst="roundRect">
            <a:avLst>
              <a:gd name="adj" fmla="val 22581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868680" y="601675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isso que "se retropagar" significa: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dos 1.000 assinantes, o próprio caixa banca marketing e equipe. O aporte é um só, o lucro é crescente.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oran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-100584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5112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DERRETE COM A ESCALA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custa manter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cliente ativo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548640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logo-cr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7088"/>
            <a:ext cx="1051560" cy="576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1752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(premissas abertas)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77240" y="2377440"/>
          <a:ext cx="49377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822960" y="4617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fixa (Supabase + Vercel ~R$ 300/mês) rateada + IA por uso: Gemini no dia a dia (barato) e Perplexity/Apify/Higgsfield só em módulos específicos.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199632" y="1645920"/>
            <a:ext cx="548640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2" descr="assets/logo-atl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810512"/>
            <a:ext cx="640080" cy="640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(planilha de custos real)</a:t>
            </a:r>
            <a:endParaRPr lang="en-US" sz="95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473952" y="2377440"/>
          <a:ext cx="49377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 9"/>
          <p:cNvSpPr/>
          <p:nvPr/>
        </p:nvSpPr>
        <p:spPr>
          <a:xfrm>
            <a:off x="6519672" y="4617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+ IA (OpenAI: gpt-4o-mini no dia a dia, gpt-4o só nos relatórios) + vídeo + taxa do cartão, já somados. Câmbio R$ 5,18.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502920" y="5577840"/>
            <a:ext cx="11183112" cy="868680"/>
          </a:xfrm>
          <a:prstGeom prst="roundRect">
            <a:avLst>
              <a:gd name="adj" fmla="val 14737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868680" y="571500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escala, cada cliente custa ~R$ 3,30/mês pra manter e paga R$ 25 a 33.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Sobram ~78% de margem recorrente por cliente, já descontando cartão e impostos. Nas projeções deste plano usamos 70%, por prudência.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4440" y="-123444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DE 1 ASSINANTE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Por que essa máquina é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lucrativa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2514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orang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530352" cy="53035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19" y="2068739"/>
            <a:ext cx="233355" cy="233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R$ 46</a:t>
            </a:r>
            <a:endParaRPr lang="en-US" sz="2700" dirty="0"/>
          </a:p>
        </p:txBody>
      </p:sp>
      <p:sp>
        <p:nvSpPr>
          <p:cNvPr id="11" name="Text 6"/>
          <p:cNvSpPr/>
          <p:nvPr/>
        </p:nvSpPr>
        <p:spPr>
          <a:xfrm>
            <a:off x="731520" y="3218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 pra conquistar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assinante (CAC)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035808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3401568" y="1691640"/>
            <a:ext cx="2514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4" name="Image 3" descr="assets/blob-blu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920240"/>
            <a:ext cx="530352" cy="530352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667" y="2068739"/>
            <a:ext cx="233355" cy="2333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30168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R$ 31</a:t>
            </a:r>
            <a:endParaRPr lang="en-US" sz="2700" dirty="0"/>
          </a:p>
        </p:txBody>
      </p:sp>
      <p:sp>
        <p:nvSpPr>
          <p:cNvPr id="17" name="Text 10"/>
          <p:cNvSpPr/>
          <p:nvPr/>
        </p:nvSpPr>
        <p:spPr>
          <a:xfrm>
            <a:off x="3630168" y="3218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paga por mês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(ticket médio)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5934456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300216" y="1691640"/>
            <a:ext cx="2514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0" name="Image 5" descr="assets/blob-yellow-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1920240"/>
            <a:ext cx="530352" cy="530352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315" y="2068739"/>
            <a:ext cx="233355" cy="23335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528816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1,5 mês</a:t>
            </a:r>
            <a:endParaRPr lang="en-US" sz="2700" dirty="0"/>
          </a:p>
        </p:txBody>
      </p:sp>
      <p:sp>
        <p:nvSpPr>
          <p:cNvPr id="23" name="Text 14"/>
          <p:cNvSpPr/>
          <p:nvPr/>
        </p:nvSpPr>
        <p:spPr>
          <a:xfrm>
            <a:off x="6528816" y="3218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assinante já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pagou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8833104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9198864" y="1691640"/>
            <a:ext cx="2514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6" name="Image 7" descr="assets/blob-green-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7464" y="1920240"/>
            <a:ext cx="530352" cy="530352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5963" y="2068739"/>
            <a:ext cx="233355" cy="23335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427464" y="2560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R$ 618</a:t>
            </a:r>
            <a:endParaRPr lang="en-US" sz="2700" dirty="0"/>
          </a:p>
        </p:txBody>
      </p:sp>
      <p:sp>
        <p:nvSpPr>
          <p:cNvPr id="29" name="Text 18"/>
          <p:cNvSpPr/>
          <p:nvPr/>
        </p:nvSpPr>
        <p:spPr>
          <a:xfrm>
            <a:off x="9427464" y="32186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ele deixa no total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cancelar (LTV)</a:t>
            </a:r>
            <a:endParaRPr lang="en-US" sz="1150" dirty="0"/>
          </a:p>
        </p:txBody>
      </p:sp>
      <p:sp>
        <p:nvSpPr>
          <p:cNvPr id="30" name="Shape 19"/>
          <p:cNvSpPr/>
          <p:nvPr/>
        </p:nvSpPr>
        <p:spPr>
          <a:xfrm>
            <a:off x="502920" y="4434840"/>
            <a:ext cx="11183112" cy="1920240"/>
          </a:xfrm>
          <a:prstGeom prst="roundRect">
            <a:avLst>
              <a:gd name="adj" fmla="val 6667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31" name="Image 9" descr="assets/blob-yellow-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206240"/>
            <a:ext cx="822960" cy="8229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914400" y="4709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LTV ÷ CAC = 13×</a:t>
            </a:r>
            <a:endParaRPr lang="en-US" sz="3600" dirty="0"/>
          </a:p>
        </p:txBody>
      </p:sp>
      <p:sp>
        <p:nvSpPr>
          <p:cNvPr id="33" name="Text 21"/>
          <p:cNvSpPr/>
          <p:nvPr/>
        </p:nvSpPr>
        <p:spPr>
          <a:xfrm>
            <a:off x="914400" y="5532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R$ 1 de marketing vira R$ 13 de receita ao longo da vida do assinante</a:t>
            </a:r>
            <a:endParaRPr lang="en-US" sz="1250" dirty="0"/>
          </a:p>
        </p:txBody>
      </p:sp>
      <p:sp>
        <p:nvSpPr>
          <p:cNvPr id="34" name="Shape 22"/>
          <p:cNvSpPr/>
          <p:nvPr/>
        </p:nvSpPr>
        <p:spPr>
          <a:xfrm>
            <a:off x="5989320" y="4754880"/>
            <a:ext cx="0" cy="1325880"/>
          </a:xfrm>
          <a:prstGeom prst="line">
            <a:avLst/>
          </a:prstGeom>
          <a:noFill/>
          <a:ln w="12700">
            <a:solidFill>
              <a:srgbClr val="4A443A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6355080" y="475488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saudável no mercado de SaaS é 3×.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se o CAC dobrar e o cancelamento subir pro pior cenário, ainda fica em 7×.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máquina com margem pra errar.</a:t>
            </a:r>
            <a:endParaRPr lang="en-US" sz="1350" dirty="0"/>
          </a:p>
        </p:txBody>
      </p:sp>
      <p:sp>
        <p:nvSpPr>
          <p:cNvPr id="36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4937760"/>
            <a:ext cx="2377440" cy="2377440"/>
          </a:xfrm>
          <a:prstGeom prst="rect">
            <a:avLst/>
          </a:prstGeom>
        </p:spPr>
      </p:pic>
      <p:pic>
        <p:nvPicPr>
          <p:cNvPr id="3" name="Image 1" descr="assets/blob-pink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-822960"/>
            <a:ext cx="1645920" cy="1645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convite pra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sociedade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554480"/>
            <a:ext cx="11183112" cy="1371600"/>
          </a:xfrm>
          <a:prstGeom prst="roundRect">
            <a:avLst>
              <a:gd name="adj" fmla="val 9333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16916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R$ 250 mil</a:t>
            </a:r>
            <a:pPr indent="0" marL="0">
              <a:buNone/>
            </a:pPr>
            <a:r>
              <a:rPr lang="en-US" sz="2200" dirty="0">
                <a:solidFill>
                  <a:srgbClr val="9A938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  por  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20% da sociedade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932688" y="245059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participação só, na empresa dona dos dois produtos (CRIA + Atlas). Margem de conversa até 25%.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 rot="-180000">
            <a:off x="9326880" y="224028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cheque único: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sem novas chamadas de dinheiro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3154680"/>
            <a:ext cx="36118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2" descr="assets/blob-orange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64992"/>
            <a:ext cx="530352" cy="530352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51" y="3513491"/>
            <a:ext cx="233355" cy="2333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438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À vista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58952" y="4041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R$ 250 mil no ato.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meses de operação garantidos, sem depender de receita. Máxima velocidade.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288536" y="3154680"/>
            <a:ext cx="36118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8" name="Image 4" descr="assets/blob-green-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3364992"/>
            <a:ext cx="530352" cy="530352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067" y="3513491"/>
            <a:ext cx="233355" cy="23335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02936" y="3438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 3 etapas, por meta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4544568" y="4041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R$ 85 mil no início · R$ 85 mil aos 400 assinantes · R$ 80 mil nos 800.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do investidor cai a cada etapa.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8074152" y="3154680"/>
            <a:ext cx="361188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3" name="Image 6" descr="assets/blob-blue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3364992"/>
            <a:ext cx="530352" cy="530352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8683" y="3513491"/>
            <a:ext cx="233355" cy="23335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988552" y="34381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Mensal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8330184" y="404164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 mil/mês por 12 meses.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o caixa da operação de perto, mês a mês.</a:t>
            </a:r>
            <a:endParaRPr lang="en-US" sz="1150" dirty="0"/>
          </a:p>
        </p:txBody>
      </p:sp>
      <p:sp>
        <p:nvSpPr>
          <p:cNvPr id="27" name="Shape 17"/>
          <p:cNvSpPr/>
          <p:nvPr/>
        </p:nvSpPr>
        <p:spPr>
          <a:xfrm>
            <a:off x="502920" y="5440680"/>
            <a:ext cx="11183112" cy="1005840"/>
          </a:xfrm>
          <a:prstGeom prst="roundRect">
            <a:avLst>
              <a:gd name="adj" fmla="val 12727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8" name="Text 18"/>
          <p:cNvSpPr/>
          <p:nvPr/>
        </p:nvSpPr>
        <p:spPr>
          <a:xfrm>
            <a:off x="868680" y="55595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 o valuation de R$ 1,25 milhão: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produtos estão prontos: só reconstruí-los do zero custaria mais de R$ 500 mil e 2 anos. Somam-se as marcas, o método proprietário do Atlas, a base de conhecimento do CRIA e dois mercados em crescimento de dois dígitos. O aporte compra crescimento, não promessa de software.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blu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-9601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1534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TOTAL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Pra onde vai </a:t>
            </a:r>
            <a:pPr indent="0" marL="0">
              <a:buNone/>
            </a:pPr>
            <a:r>
              <a:rPr lang="en-US" sz="29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cada real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(12 meses)</a:t>
            </a:r>
            <a:endParaRPr lang="en-US" sz="2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645920"/>
          <a:ext cx="4937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691640" y="3429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R$ 250 mil</a:t>
            </a:r>
            <a:endParaRPr lang="en-US" sz="2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crescimento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5806440" y="1883664"/>
            <a:ext cx="201168" cy="201168"/>
          </a:xfrm>
          <a:prstGeom prst="ellipse">
            <a:avLst/>
          </a:prstGeom>
          <a:solidFill>
            <a:srgbClr val="CE4A1D"/>
          </a:solidFill>
          <a:ln/>
        </p:spPr>
      </p:sp>
      <p:sp>
        <p:nvSpPr>
          <p:cNvPr id="10" name="Text 6"/>
          <p:cNvSpPr/>
          <p:nvPr/>
        </p:nvSpPr>
        <p:spPr>
          <a:xfrm>
            <a:off x="6126480" y="1828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Tráfego pago (anúncios)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235440" y="1828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R$ 120.000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789920" y="1828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06440" y="2304288"/>
            <a:ext cx="201168" cy="201168"/>
          </a:xfrm>
          <a:prstGeom prst="ellipse">
            <a:avLst/>
          </a:prstGeom>
          <a:solidFill>
            <a:srgbClr val="F27EB5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22494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e influenciadores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235440" y="22494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R$ 40.800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789920" y="22494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06440" y="2724912"/>
            <a:ext cx="201168" cy="201168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26700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235440" y="2670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R$ 30.000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0789920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806440" y="3145536"/>
            <a:ext cx="201168" cy="201168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22" name="Text 18"/>
          <p:cNvSpPr/>
          <p:nvPr/>
        </p:nvSpPr>
        <p:spPr>
          <a:xfrm>
            <a:off x="6126480" y="3090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e motion design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9235440" y="30906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R$ 24.000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0789920" y="3090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806440" y="3566160"/>
            <a:ext cx="201168" cy="201168"/>
          </a:xfrm>
          <a:prstGeom prst="ellipse">
            <a:avLst/>
          </a:prstGeom>
          <a:solidFill>
            <a:srgbClr val="F2C21E"/>
          </a:solidFill>
          <a:ln/>
        </p:spPr>
      </p:sp>
      <p:sp>
        <p:nvSpPr>
          <p:cNvPr id="26" name="Text 22"/>
          <p:cNvSpPr/>
          <p:nvPr/>
        </p:nvSpPr>
        <p:spPr>
          <a:xfrm>
            <a:off x="6126480" y="35112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(posts)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235440" y="35112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R$ 12.000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0789920" y="35112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806440" y="3986784"/>
            <a:ext cx="201168" cy="201168"/>
          </a:xfrm>
          <a:prstGeom prst="ellipse">
            <a:avLst/>
          </a:prstGeom>
          <a:solidFill>
            <a:srgbClr val="8A8578"/>
          </a:solidFill>
          <a:ln/>
        </p:spPr>
      </p:sp>
      <p:sp>
        <p:nvSpPr>
          <p:cNvPr id="30" name="Text 26"/>
          <p:cNvSpPr/>
          <p:nvPr/>
        </p:nvSpPr>
        <p:spPr>
          <a:xfrm>
            <a:off x="6126480" y="39319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e registros (INPI)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9235440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R$ 8.000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10789920" y="39319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806440" y="4407408"/>
            <a:ext cx="201168" cy="201168"/>
          </a:xfrm>
          <a:prstGeom prst="ellipse">
            <a:avLst/>
          </a:prstGeom>
          <a:solidFill>
            <a:srgbClr val="B9AF9C"/>
          </a:solidFill>
          <a:ln/>
        </p:spPr>
      </p:sp>
      <p:sp>
        <p:nvSpPr>
          <p:cNvPr id="34" name="Text 30"/>
          <p:cNvSpPr/>
          <p:nvPr/>
        </p:nvSpPr>
        <p:spPr>
          <a:xfrm>
            <a:off x="6126480" y="43525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segurança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9235440" y="43525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R$ 15.200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10789920" y="43525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806440" y="4910328"/>
            <a:ext cx="58521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080760" y="502920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CE4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único cheque.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banca 12 meses de marketing no ritmo máximo, aconteça o que acontecer. A equipe (mês 7) já entra paga pela receita, e do mês 13 em diante TUDO (marketing, time, melhorias) sai da margem da própria operação. Não existe segunda chamada de dinheiro: acelerar além do plano é opção conjunta, nunca obrigação.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-1188720"/>
            <a:ext cx="2011680" cy="2011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9855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DO INVESTIDOR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Como os R$ 250 mil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voltam (e multiplicam)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486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8" name="Image 1" descr="assets/blob-green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20240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207385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760" y="1993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Caminho 1 · Lucro distribuído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4672" y="25420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passa a dar lucro por volta do mês 5. No ano 2, a fatia de 20% recebe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E9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~R$ 66 mil/ano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distribuição de lucros (cenário base).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só por lucros: ~3,5 anos, sem contar a valorização.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199632" y="1691640"/>
            <a:ext cx="54864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3" name="Image 3" descr="assets/blob-blu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920240"/>
            <a:ext cx="548640" cy="548640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003" y="2073859"/>
            <a:ext cx="241402" cy="2414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05472" y="1993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Caminho 2 · Valorização da participação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501384" y="25420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é avaliado por múltiplo da receita anual (usamos 3×, conservador; o mercado paga 3 a 5×).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a fatia valeria numa venda ou nova rodada de investimento.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502920" y="4206240"/>
            <a:ext cx="740664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82296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20624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ano 1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035040" y="4389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ano 2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22960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anualizada (ARR)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206240" y="4773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R$ 735 mil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035040" y="47731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R$ 1,13 milhão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22960" y="5157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negócio (3× ARR)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206240" y="51572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R$ 2,2 milhões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035040" y="51572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R$ 3,4 milhões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22960" y="55412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da fatia de 20%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206240" y="5541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R$ 441 mil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035040" y="554126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R$ 680 mil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22960" y="5925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9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Multiplicação do aporte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206240" y="5925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1,8×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035040" y="59253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2,7×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092440" y="4206240"/>
            <a:ext cx="3593592" cy="2240280"/>
          </a:xfrm>
          <a:prstGeom prst="roundRect">
            <a:avLst>
              <a:gd name="adj" fmla="val 5714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836676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 bom português: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366760" y="4828032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R$ 1 investido deve valer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R$ 2,70 em dois anos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ainda recebendo lucro todo ano.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pior cenário mapeado: ~1,7×.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-9601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29855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25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RETORNO, DESTRINCHADO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caminho dos R$ 250 mil, </a:t>
            </a:r>
            <a:pPr indent="0" marL="0">
              <a:buNone/>
            </a:pPr>
            <a:r>
              <a:rPr lang="en-US" sz="29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ano a ano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502920" y="1645920"/>
            <a:ext cx="2148840" cy="251460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Hoje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139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− R$ 250 mil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aporte entra e vira máquina de aquisição.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685800" y="3639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de 20% da sociedade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96896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61488" y="1645920"/>
            <a:ext cx="2148840" cy="251460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44368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Ano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44368" y="2139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recebe ~R$ 0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2944368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propósito: todo lucro é reinvestido pra crescer mais rápido.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2944368" y="3639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já vale ~R$ 441 mil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5464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20056" y="1645920"/>
            <a:ext cx="2148840" cy="251460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02936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Ano 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02936" y="2139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R$ 66 mil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5202936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a distribuição de lucros (total recebido: R$ 69 mil).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5202936" y="3639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~R$ 680 mil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14032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78624" y="1645920"/>
            <a:ext cx="2148840" cy="251460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61504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Ano 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461504" y="2139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R$ 107 mil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7461504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cresce com a base (total recebido: R$ 176 mil).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7461504" y="3639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~R$ 809 mil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372600" y="26060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635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537192" y="1645920"/>
            <a:ext cx="2148840" cy="2514600"/>
          </a:xfrm>
          <a:prstGeom prst="roundRect">
            <a:avLst>
              <a:gd name="adj" fmla="val 5957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720072" y="18105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Ano 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720072" y="2139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C21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R$ 129 mil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9720072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recebido: R$ 305 mil. Aporte de volta, em dinheiro. ✓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9720072" y="3639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C9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Fatia ~R$ 878 mil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02920" y="4343400"/>
            <a:ext cx="11183112" cy="713232"/>
          </a:xfrm>
          <a:prstGeom prst="roundRect">
            <a:avLst>
              <a:gd name="adj" fmla="val 17949"/>
            </a:avLst>
          </a:prstGeom>
          <a:solidFill>
            <a:srgbClr val="E9E2D2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68680" y="445312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Resumo: em ~3 anos e meio ele recupera os R$ 250 mil em dinheiro vivo,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continua dono de 20% de um negócio de ~R$ 4,4 milhões, que segue pagando ~R$ 130-140 mil por ano. Dali em diante é só retorno.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21208" y="5138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quando ele quiser transformar a fatia em dinheiro? 3 portas: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02920" y="5486400"/>
            <a:ext cx="36118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40" name="Image 1" descr="assets/blob-green-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632704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30352" y="56327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1161288" y="5559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Ficar sócio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1161288" y="5833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a parte dele do lucro todo ano, crescendo junto com a base. Renda sem prazo de validade.</a:t>
            </a:r>
            <a:endParaRPr lang="en-US" sz="880" dirty="0"/>
          </a:p>
        </p:txBody>
      </p:sp>
      <p:sp>
        <p:nvSpPr>
          <p:cNvPr id="44" name="Shape 40"/>
          <p:cNvSpPr/>
          <p:nvPr/>
        </p:nvSpPr>
        <p:spPr>
          <a:xfrm>
            <a:off x="4288536" y="5486400"/>
            <a:ext cx="36118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45" name="Image 2" descr="assets/blob-blue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5632704"/>
            <a:ext cx="384048" cy="38404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4315968" y="56327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4946904" y="5559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Vender a fatia</a:t>
            </a:r>
            <a:endParaRPr lang="en-US" sz="1150" dirty="0"/>
          </a:p>
        </p:txBody>
      </p:sp>
      <p:sp>
        <p:nvSpPr>
          <p:cNvPr id="48" name="Text 43"/>
          <p:cNvSpPr/>
          <p:nvPr/>
        </p:nvSpPr>
        <p:spPr>
          <a:xfrm>
            <a:off x="4946904" y="5833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um novo investidor, numa rodada futura ou de volta pra própria empresa (recompra), a valor de mercado.</a:t>
            </a:r>
            <a:endParaRPr lang="en-US" sz="880" dirty="0"/>
          </a:p>
        </p:txBody>
      </p:sp>
      <p:sp>
        <p:nvSpPr>
          <p:cNvPr id="49" name="Shape 44"/>
          <p:cNvSpPr/>
          <p:nvPr/>
        </p:nvSpPr>
        <p:spPr>
          <a:xfrm>
            <a:off x="8074152" y="5486400"/>
            <a:ext cx="361188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50" name="Image 3" descr="assets/blob-orang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5632704"/>
            <a:ext cx="384048" cy="384048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101584" y="563270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8732520" y="55595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Venda da empresa</a:t>
            </a:r>
            <a:endParaRPr lang="en-US" sz="1150" dirty="0"/>
          </a:p>
        </p:txBody>
      </p:sp>
      <p:sp>
        <p:nvSpPr>
          <p:cNvPr id="53" name="Text 47"/>
          <p:cNvSpPr/>
          <p:nvPr/>
        </p:nvSpPr>
        <p:spPr>
          <a:xfrm>
            <a:off x="8732520" y="58338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negócio for vendido, ele sai junto, nas mesmas condições (direito de tag along garantido em contrato).</a:t>
            </a:r>
            <a:endParaRPr lang="en-US" sz="880" dirty="0"/>
          </a:p>
        </p:txBody>
      </p:sp>
      <p:sp>
        <p:nvSpPr>
          <p:cNvPr id="54" name="Text 4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g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-960120"/>
            <a:ext cx="1828800" cy="1828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74320"/>
            <a:ext cx="38267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2"/>
          <p:cNvSpPr/>
          <p:nvPr/>
        </p:nvSpPr>
        <p:spPr>
          <a:xfrm>
            <a:off x="896112" y="283464"/>
            <a:ext cx="3415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RETORNO · HORIZONTE DE 5 ANOS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Base crescendo, renda crescendo, </a:t>
            </a:r>
            <a:pPr indent="0" marL="0">
              <a:buNone/>
            </a:pPr>
            <a:r>
              <a:rPr lang="en-US" sz="2700" b="1" dirty="0">
                <a:solidFill>
                  <a:srgbClr val="3E91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risco caindo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553212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Assinantes (barras) × renda mensal dele (linha)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2103120"/>
          <a:ext cx="5212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5120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R$ 0 a ~R$ 12 mil/mês de renda recorrente, sem vender nada.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45352" y="1600200"/>
            <a:ext cx="544068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19672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Posição líquida dele: aporte + tudo que já recebeu</a:t>
            </a:r>
            <a:endParaRPr lang="en-US" sz="12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428232" y="210312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/>
          <p:nvPr/>
        </p:nvSpPr>
        <p:spPr>
          <a:xfrm rot="-180000">
            <a:off x="8961120" y="370332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2C21E"/>
          </a:solidFill>
          <a:ln/>
          <a:effectLst>
            <a:outerShdw sx="100000" sy="100000" kx="0" ky="0" algn="bl" rotWithShape="0" blurRad="76200" dist="25400" dir="5400000">
              <a:srgbClr val="3A3225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mês 44: risco zerado ✓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519672" y="5120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em −R$ 250 mil, zera no mês 44 e termina o ano 5 em +R$ 193 mil. Dali em diante, só aumenta.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5760720"/>
            <a:ext cx="11183112" cy="777240"/>
          </a:xfrm>
          <a:prstGeom prst="roundRect">
            <a:avLst>
              <a:gd name="adj" fmla="val 16471"/>
            </a:avLst>
          </a:prstGeom>
          <a:solidFill>
            <a:srgbClr val="17140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68680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C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mês 44 o jogo muda: risco zero, renda de ~R$ 12 mil/mês crescendo,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fatia de 20% (~R$ 916 mil no ano 5) é patrimônio à parte. Se a verba subir de nível, tudo isso sobe junto.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yello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-1005840"/>
            <a:ext cx="1920240" cy="1920240"/>
          </a:xfrm>
          <a:prstGeom prst="rect">
            <a:avLst/>
          </a:prstGeom>
        </p:spPr>
      </p:pic>
      <p:pic>
        <p:nvPicPr>
          <p:cNvPr id="3" name="Image 1" descr="assets/blob-blu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4440" y="5623560"/>
            <a:ext cx="1645920" cy="1645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74320"/>
            <a:ext cx="35112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3A3225">
                <a:alpha val="1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658368" y="393192"/>
            <a:ext cx="146304" cy="146304"/>
          </a:xfrm>
          <a:prstGeom prst="ellipse">
            <a:avLst/>
          </a:prstGeom>
          <a:solidFill>
            <a:srgbClr val="2A4BDF"/>
          </a:solidFill>
          <a:ln/>
        </p:spPr>
      </p:sp>
      <p:sp>
        <p:nvSpPr>
          <p:cNvPr id="6" name="Text 2"/>
          <p:cNvSpPr/>
          <p:nvPr/>
        </p:nvSpPr>
        <p:spPr>
          <a:xfrm>
            <a:off x="896112" y="283464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PROTEGE O INVESTIMENTO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Risco </a:t>
            </a:r>
            <a:pPr indent="0" marL="0">
              <a:buNone/>
            </a:pPr>
            <a:r>
              <a:rPr lang="en-US" sz="2900" b="1" dirty="0">
                <a:solidFill>
                  <a:srgbClr val="2A4BD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controlado</a:t>
            </a:r>
            <a:pPr indent="0" marL="0">
              <a:buNone/>
            </a:pPr>
            <a:r>
              <a:rPr lang="en-US" sz="29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por desenho</a:t>
            </a:r>
            <a:endParaRPr lang="en-US" sz="2900" dirty="0"/>
          </a:p>
        </p:txBody>
      </p:sp>
      <p:sp>
        <p:nvSpPr>
          <p:cNvPr id="8" name="Shape 4"/>
          <p:cNvSpPr/>
          <p:nvPr/>
        </p:nvSpPr>
        <p:spPr>
          <a:xfrm>
            <a:off x="50292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9" name="Image 2" descr="assets/blob-green-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975104"/>
            <a:ext cx="548640" cy="5486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" y="2128723"/>
            <a:ext cx="241402" cy="2414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63040" y="2029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 maior risco já passou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58952" y="2724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o produto é onde startups morrem. Os dois estão prontos, no ar e cobrando.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29768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4" name="Image 4" descr="assets/blob-orange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1975104"/>
            <a:ext cx="548640" cy="54864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7331" y="2128723"/>
            <a:ext cx="241402" cy="24140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57800" y="2029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Aporte por etapas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4553712" y="2724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preferir, o dinheiro entra em 3 tranches ligadas a metas. Só avança se o resultado aparecer.</a:t>
            </a:r>
            <a:endParaRPr lang="en-US" sz="1150" dirty="0"/>
          </a:p>
        </p:txBody>
      </p:sp>
      <p:sp>
        <p:nvSpPr>
          <p:cNvPr id="18" name="Shape 10"/>
          <p:cNvSpPr/>
          <p:nvPr/>
        </p:nvSpPr>
        <p:spPr>
          <a:xfrm>
            <a:off x="8092440" y="1737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9" name="Image 6" descr="assets/blob-blue-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1975104"/>
            <a:ext cx="548640" cy="54864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091" y="2128723"/>
            <a:ext cx="241402" cy="24140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052560" y="2029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Transparência de verdade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8348472" y="2724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aberto com MRR, CAC e churn todo mês, usando o próprio Cria Caixa na gestão da sociedade.</a:t>
            </a:r>
            <a:endParaRPr lang="en-US" sz="1150" dirty="0"/>
          </a:p>
        </p:txBody>
      </p:sp>
      <p:sp>
        <p:nvSpPr>
          <p:cNvPr id="23" name="Shape 13"/>
          <p:cNvSpPr/>
          <p:nvPr/>
        </p:nvSpPr>
        <p:spPr>
          <a:xfrm>
            <a:off x="50292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4" name="Image 8" descr="assets/blob-pink-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4261104"/>
            <a:ext cx="548640" cy="54864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" y="4414723"/>
            <a:ext cx="241402" cy="24140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463040" y="4315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 fixo mínimo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758952" y="5010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escritório, sem folha pesada. Quase todo real é variável e vai pra aquisição de clientes.</a:t>
            </a:r>
            <a:endParaRPr lang="en-US" sz="1150" dirty="0"/>
          </a:p>
        </p:txBody>
      </p:sp>
      <p:sp>
        <p:nvSpPr>
          <p:cNvPr id="28" name="Shape 16"/>
          <p:cNvSpPr/>
          <p:nvPr/>
        </p:nvSpPr>
        <p:spPr>
          <a:xfrm>
            <a:off x="429768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9" name="Image 10" descr="assets/blob-yellow-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712" y="4261104"/>
            <a:ext cx="548640" cy="548640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7331" y="4414723"/>
            <a:ext cx="241402" cy="24140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57800" y="4315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Dois motores independentes</a:t>
            </a:r>
            <a:endParaRPr lang="en-US" sz="1350" dirty="0"/>
          </a:p>
        </p:txBody>
      </p:sp>
      <p:sp>
        <p:nvSpPr>
          <p:cNvPr id="32" name="Text 18"/>
          <p:cNvSpPr/>
          <p:nvPr/>
        </p:nvSpPr>
        <p:spPr>
          <a:xfrm>
            <a:off x="4553712" y="5010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um patinar, o outro segue. A verba realoca entre CRIA e Atlas conforme a resposta do mercado.</a:t>
            </a:r>
            <a:endParaRPr lang="en-US" sz="1150" dirty="0"/>
          </a:p>
        </p:txBody>
      </p:sp>
      <p:sp>
        <p:nvSpPr>
          <p:cNvPr id="33" name="Shape 19"/>
          <p:cNvSpPr/>
          <p:nvPr/>
        </p:nvSpPr>
        <p:spPr>
          <a:xfrm>
            <a:off x="8092440" y="4023360"/>
            <a:ext cx="3593592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34" name="Image 12" descr="assets/blob-green-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8472" y="4261104"/>
            <a:ext cx="548640" cy="548640"/>
          </a:xfrm>
          <a:prstGeom prst="rect">
            <a:avLst/>
          </a:prstGeom>
        </p:spPr>
      </p:pic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2091" y="4414723"/>
            <a:ext cx="241402" cy="241402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9052560" y="43159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Margem pra errar</a:t>
            </a:r>
            <a:endParaRPr lang="en-US" sz="1350" dirty="0"/>
          </a:p>
        </p:txBody>
      </p:sp>
      <p:sp>
        <p:nvSpPr>
          <p:cNvPr id="37" name="Text 21"/>
          <p:cNvSpPr/>
          <p:nvPr/>
        </p:nvSpPr>
        <p:spPr>
          <a:xfrm>
            <a:off x="8348472" y="5010912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LTV/CAC de 13×, mesmo errando o CAC em 2× a operação continua lucrativa (7×).</a:t>
            </a:r>
            <a:endParaRPr lang="en-US" sz="1150" dirty="0"/>
          </a:p>
        </p:txBody>
      </p:sp>
      <p:sp>
        <p:nvSpPr>
          <p:cNvPr id="38" name="Text 2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× ATLAS · Proposta de sociedade</a:t>
            </a:r>
            <a:endParaRPr lang="en-US" sz="900" dirty="0"/>
          </a:p>
        </p:txBody>
      </p:sp>
      <p:sp>
        <p:nvSpPr>
          <p:cNvPr id="3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b-pink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63040" y="-1554480"/>
            <a:ext cx="2926080" cy="2926080"/>
          </a:xfrm>
          <a:prstGeom prst="rect">
            <a:avLst/>
          </a:prstGeom>
        </p:spPr>
      </p:pic>
      <p:pic>
        <p:nvPicPr>
          <p:cNvPr id="3" name="Image 1" descr="assets/blob-yellow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846320"/>
            <a:ext cx="274320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3E9152"/>
          </a:solidFill>
          <a:ln/>
        </p:spPr>
      </p:sp>
      <p:sp>
        <p:nvSpPr>
          <p:cNvPr id="5" name="Text 1"/>
          <p:cNvSpPr/>
          <p:nvPr/>
        </p:nvSpPr>
        <p:spPr>
          <a:xfrm>
            <a:off x="1188720" y="7772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pergunta não é se esses mercados vão explodir.
</a:t>
            </a:r>
            <a:pPr algn="ctr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É quem vai estar posicionado quando explodirem.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31520" y="251460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7" name="Image 2" descr="assets/blob-yellow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74320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392" y="2743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87552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Conversa e ajuste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987552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Alinhar valor, formato do aporte e participação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520440" y="251460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2" name="Image 3" descr="assets/blob-yellow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74320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39312" y="2743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3776472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Acordo de sociedade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776472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 metas, regras e transparência definidas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309360" y="251460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17" name="Image 4" descr="assets/blob-yellow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743200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28232" y="2743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565392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Primeira parcela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565392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inicial + registro das marcas no INPI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9098280" y="2514600"/>
            <a:ext cx="26060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225">
                <a:alpha val="13000"/>
              </a:srgbClr>
            </a:outerShdw>
          </a:effectLst>
        </p:spPr>
      </p:sp>
      <p:pic>
        <p:nvPicPr>
          <p:cNvPr id="22" name="Image 5" descr="assets/blob-yellow-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274320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217152" y="2743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9354312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40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Tráfego no ar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9354312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aquisição rodando em até 30 dias</a:t>
            </a:r>
            <a:endParaRPr lang="en-US" sz="1100" dirty="0"/>
          </a:p>
        </p:txBody>
      </p:sp>
      <p:pic>
        <p:nvPicPr>
          <p:cNvPr id="26" name="Image 6" descr="assets/logo-cri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983480"/>
            <a:ext cx="1691640" cy="9326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035040" y="5120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E4A1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×</a:t>
            </a:r>
            <a:endParaRPr lang="en-US" sz="3000" dirty="0"/>
          </a:p>
        </p:txBody>
      </p:sp>
      <p:pic>
        <p:nvPicPr>
          <p:cNvPr id="28" name="Image 7" descr="assets/logo-atla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828032"/>
            <a:ext cx="1234440" cy="1234440"/>
          </a:xfrm>
          <a:prstGeom prst="rect">
            <a:avLst/>
          </a:prstGeom>
        </p:spPr>
      </p:pic>
      <p:pic>
        <p:nvPicPr>
          <p:cNvPr id="29" name="Image 8" descr="assets/st-cluazu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" y="4846320"/>
            <a:ext cx="1188720" cy="1188720"/>
          </a:xfrm>
          <a:prstGeom prst="rect">
            <a:avLst/>
          </a:prstGeom>
        </p:spPr>
      </p:pic>
      <p:pic>
        <p:nvPicPr>
          <p:cNvPr id="30" name="Image 9" descr="assets/st-semformul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1320" y="502920"/>
            <a:ext cx="1234440" cy="1181535"/>
          </a:xfrm>
          <a:prstGeom prst="rect">
            <a:avLst/>
          </a:prstGeom>
        </p:spPr>
      </p:pic>
      <p:pic>
        <p:nvPicPr>
          <p:cNvPr id="31" name="Image 10" descr="assets/st-mochil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5640" y="5074920"/>
            <a:ext cx="1143000" cy="1242391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840480" y="6263640"/>
            <a:ext cx="4507992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225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 Espindola · </a:t>
            </a:r>
            <a:pPr algn="ctr" indent="0" marL="0">
              <a:buNone/>
            </a:pPr>
            <a:r>
              <a:rPr lang="en-US" sz="12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walterjoose@gmail.com</a:t>
            </a:r>
            <a:endParaRPr lang="en-US" sz="1200" dirty="0"/>
          </a:p>
        </p:txBody>
      </p:sp>
      <p:sp>
        <p:nvSpPr>
          <p:cNvPr id="33" name="Text 20"/>
          <p:cNvSpPr/>
          <p:nvPr/>
        </p:nvSpPr>
        <p:spPr>
          <a:xfrm>
            <a:off x="9692640" y="6473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· Agosto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2026-08-21T18:32:04Z</dcterms:created>
  <dcterms:modified xsi:type="dcterms:W3CDTF">2026-08-21T18:32:04Z</dcterms:modified>
</cp:coreProperties>
</file>