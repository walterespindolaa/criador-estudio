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 o CAC for R$ 33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324</c:v>
                </c:pt>
                <c:pt idx="1">
                  <c:v>634</c:v>
                </c:pt>
                <c:pt idx="2">
                  <c:v>933</c:v>
                </c:pt>
                <c:pt idx="3">
                  <c:v>1219</c:v>
                </c:pt>
                <c:pt idx="4">
                  <c:v>1494</c:v>
                </c:pt>
                <c:pt idx="5">
                  <c:v>1758</c:v>
                </c:pt>
                <c:pt idx="6">
                  <c:v>2011</c:v>
                </c:pt>
                <c:pt idx="7">
                  <c:v>2254</c:v>
                </c:pt>
                <c:pt idx="8">
                  <c:v>2488</c:v>
                </c:pt>
                <c:pt idx="9">
                  <c:v>2712</c:v>
                </c:pt>
                <c:pt idx="10">
                  <c:v>2927</c:v>
                </c:pt>
                <c:pt idx="11">
                  <c:v>3133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 o CAC for R$ 46 (usado no plano)</c:v>
                </c:pt>
              </c:strCache>
            </c:strRef>
          </c:tx>
          <c:spPr>
            <a:solidFill>
              <a:srgbClr val="CE4A1D"/>
            </a:solidFill>
            <a:ln w="38100" cap="flat">
              <a:solidFill>
                <a:srgbClr val="CE4A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E4A1D"/>
              </a:solidFill>
              <a:ln w="9525" cap="flat">
                <a:solidFill>
                  <a:srgbClr val="CE4A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216</c:v>
                </c:pt>
                <c:pt idx="1">
                  <c:v>421</c:v>
                </c:pt>
                <c:pt idx="2">
                  <c:v>615</c:v>
                </c:pt>
                <c:pt idx="3">
                  <c:v>800</c:v>
                </c:pt>
                <c:pt idx="4">
                  <c:v>976</c:v>
                </c:pt>
                <c:pt idx="5">
                  <c:v>1143</c:v>
                </c:pt>
                <c:pt idx="6">
                  <c:v>1302</c:v>
                </c:pt>
                <c:pt idx="7">
                  <c:v>1452</c:v>
                </c:pt>
                <c:pt idx="8">
                  <c:v>1595</c:v>
                </c:pt>
                <c:pt idx="9">
                  <c:v>1731</c:v>
                </c:pt>
                <c:pt idx="10">
                  <c:v>1861</c:v>
                </c:pt>
                <c:pt idx="11">
                  <c:v>1983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 o CAC for R$ 66</c:v>
                </c:pt>
              </c:strCache>
            </c:strRef>
          </c:tx>
          <c:spPr>
            <a:solidFill>
              <a:srgbClr val="2A4BDF"/>
            </a:solidFill>
            <a:ln w="3810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162</c:v>
                </c:pt>
                <c:pt idx="1">
                  <c:v>312</c:v>
                </c:pt>
                <c:pt idx="2">
                  <c:v>452</c:v>
                </c:pt>
                <c:pt idx="3">
                  <c:v>582</c:v>
                </c:pt>
                <c:pt idx="4">
                  <c:v>703</c:v>
                </c:pt>
                <c:pt idx="5">
                  <c:v>816</c:v>
                </c:pt>
                <c:pt idx="6">
                  <c:v>921</c:v>
                </c:pt>
                <c:pt idx="7">
                  <c:v>1018</c:v>
                </c:pt>
                <c:pt idx="8">
                  <c:v>1109</c:v>
                </c:pt>
                <c:pt idx="9">
                  <c:v>1193</c:v>
                </c:pt>
                <c:pt idx="10">
                  <c:v>1271</c:v>
                </c:pt>
                <c:pt idx="11">
                  <c:v>1344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Agressivo</c:v>
                </c:pt>
              </c:strCache>
            </c:strRef>
          </c:tx>
          <c:spPr>
            <a:solidFill>
              <a:srgbClr val="F27EB5"/>
            </a:solidFill>
            <a:ln w="38100" cap="flat">
              <a:solidFill>
                <a:srgbClr val="F27E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7EB5"/>
              </a:solidFill>
              <a:ln w="9525" cap="flat">
                <a:solidFill>
                  <a:srgbClr val="F27E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304</c:v>
                </c:pt>
                <c:pt idx="1">
                  <c:v>597</c:v>
                </c:pt>
                <c:pt idx="2">
                  <c:v>877</c:v>
                </c:pt>
                <c:pt idx="3">
                  <c:v>1146</c:v>
                </c:pt>
                <c:pt idx="4">
                  <c:v>1405</c:v>
                </c:pt>
                <c:pt idx="5">
                  <c:v>1653</c:v>
                </c:pt>
                <c:pt idx="6">
                  <c:v>1891</c:v>
                </c:pt>
                <c:pt idx="7">
                  <c:v>2120</c:v>
                </c:pt>
                <c:pt idx="8">
                  <c:v>2339</c:v>
                </c:pt>
                <c:pt idx="9">
                  <c:v>2550</c:v>
                </c:pt>
                <c:pt idx="10">
                  <c:v>2753</c:v>
                </c:pt>
                <c:pt idx="11">
                  <c:v>2947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Mediano</c:v>
                </c:pt>
              </c:strCache>
            </c:strRef>
          </c:tx>
          <c:spPr>
            <a:solidFill>
              <a:srgbClr val="2A4BDF"/>
            </a:solidFill>
            <a:ln w="3810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240</c:v>
                </c:pt>
                <c:pt idx="1">
                  <c:v>468</c:v>
                </c:pt>
                <c:pt idx="2">
                  <c:v>685</c:v>
                </c:pt>
                <c:pt idx="3">
                  <c:v>890</c:v>
                </c:pt>
                <c:pt idx="4">
                  <c:v>1086</c:v>
                </c:pt>
                <c:pt idx="5">
                  <c:v>1272</c:v>
                </c:pt>
                <c:pt idx="6">
                  <c:v>1448</c:v>
                </c:pt>
                <c:pt idx="7">
                  <c:v>1616</c:v>
                </c:pt>
                <c:pt idx="8">
                  <c:v>1775</c:v>
                </c:pt>
                <c:pt idx="9">
                  <c:v>1926</c:v>
                </c:pt>
                <c:pt idx="10">
                  <c:v>2070</c:v>
                </c:pt>
                <c:pt idx="11">
                  <c:v>2206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Conservador (usado no plano)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m1</c:v>
                  </c:pt>
                  <c:pt idx="1">
                    <c:v>m2</c:v>
                  </c:pt>
                  <c:pt idx="2">
                    <c:v>m3</c:v>
                  </c:pt>
                  <c:pt idx="3">
                    <c:v>m4</c:v>
                  </c:pt>
                  <c:pt idx="4">
                    <c:v>m5</c:v>
                  </c:pt>
                  <c:pt idx="5">
                    <c:v>m6</c:v>
                  </c:pt>
                  <c:pt idx="6">
                    <c:v>m7</c:v>
                  </c:pt>
                  <c:pt idx="7">
                    <c:v>m8</c:v>
                  </c:pt>
                  <c:pt idx="8">
                    <c:v>m9</c:v>
                  </c:pt>
                  <c:pt idx="9">
                    <c:v>m10</c:v>
                  </c:pt>
                  <c:pt idx="10">
                    <c:v>m11</c:v>
                  </c:pt>
                  <c:pt idx="11">
                    <c:v>m12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216</c:v>
                </c:pt>
                <c:pt idx="1">
                  <c:v>421</c:v>
                </c:pt>
                <c:pt idx="2">
                  <c:v>615</c:v>
                </c:pt>
                <c:pt idx="3">
                  <c:v>800</c:v>
                </c:pt>
                <c:pt idx="4">
                  <c:v>976</c:v>
                </c:pt>
                <c:pt idx="5">
                  <c:v>1143</c:v>
                </c:pt>
                <c:pt idx="6">
                  <c:v>1302</c:v>
                </c:pt>
                <c:pt idx="7">
                  <c:v>1452</c:v>
                </c:pt>
                <c:pt idx="8">
                  <c:v>1595</c:v>
                </c:pt>
                <c:pt idx="9">
                  <c:v>1731</c:v>
                </c:pt>
                <c:pt idx="10">
                  <c:v>1861</c:v>
                </c:pt>
                <c:pt idx="11">
                  <c:v>1983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"/>
          <c:min val="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MRR (R$ mil/mês)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R$ #0&quot; mil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Mês 6</c:v>
                  </c:pt>
                  <c:pt idx="1">
                    <c:v>Mês 12</c:v>
                  </c:pt>
                  <c:pt idx="2">
                    <c:v>Mês 18</c:v>
                  </c:pt>
                  <c:pt idx="3">
                    <c:v>Mês 24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61</c:v>
                </c:pt>
                <c:pt idx="2">
                  <c:v>80</c:v>
                </c:pt>
                <c:pt idx="3">
                  <c:v>94</c:v>
                </c:pt>
              </c:numCache>
            </c:numRef>
          </c:val>
        </c:ser>
        <c:dLbls>
          <c:numFmt formatCode="R$ #0&quot; mil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Receita/mês (MRR)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</c:v>
                </c:pt>
                <c:pt idx="1">
                  <c:v>62</c:v>
                </c:pt>
                <c:pt idx="2">
                  <c:v>155</c:v>
                </c:pt>
                <c:pt idx="3">
                  <c:v>309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Custo total/mês</c:v>
                </c:pt>
              </c:strCache>
            </c:strRef>
          </c:tx>
          <c:spPr>
            <a:solidFill>
              <a:srgbClr val="B9AF9C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31</c:v>
                </c:pt>
                <c:pt idx="1">
                  <c:v>50</c:v>
                </c:pt>
                <c:pt idx="2">
                  <c:v>101</c:v>
                </c:pt>
                <c:pt idx="3">
                  <c:v>193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Lucro/mês</c:v>
                </c:pt>
              </c:strCache>
            </c:strRef>
          </c:tx>
          <c:spPr>
            <a:solidFill>
              <a:srgbClr val="3E9152"/>
            </a:solidFill>
            <a:effectLst/>
          </c:spPr>
          <c:invertIfNegative val="0"/>
          <c:dLbls>
            <c:numFmt formatCode="#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1.000</c:v>
                  </c:pt>
                  <c:pt idx="1">
                    <c:v>2.000</c:v>
                  </c:pt>
                  <c:pt idx="2">
                    <c:v>5.000</c:v>
                  </c:pt>
                  <c:pt idx="3">
                    <c:v>10.000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11</c:v>
                </c:pt>
                <c:pt idx="2">
                  <c:v>53</c:v>
                </c:pt>
                <c:pt idx="3">
                  <c:v>116</c:v>
                </c:pt>
              </c:numCache>
            </c:numRef>
          </c:val>
        </c:ser>
        <c:dLbls>
          <c:numFmt formatCode="#0" sourceLinked="0"/>
          <c:txPr>
            <a:bodyPr/>
            <a:lstStyle/>
            <a:p>
              <a:pPr>
                <a:defRPr b="1" i="0" strike="noStrike" sz="9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-15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Custo/cliente/mês (R$)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R$ #,##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ativos</c:v>
                  </c:pt>
                  <c:pt idx="1">
                    <c:v>100</c:v>
                  </c:pt>
                  <c:pt idx="2">
                    <c:v>1.000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6</c:v>
                </c:pt>
                <c:pt idx="2">
                  <c:v>3.3</c:v>
                </c:pt>
              </c:numCache>
            </c:numRef>
          </c:val>
        </c:ser>
        <c:dLbls>
          <c:numFmt formatCode="R$ #,##0.00" sourceLinked="0"/>
          <c:txPr>
            <a:bodyPr/>
            <a:lstStyle/>
            <a:p>
              <a:pPr>
                <a:defRPr b="1" i="0" strike="noStrike" sz="12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Custo/cliente/mês (R$)</c:v>
                </c:pt>
              </c:strCache>
            </c:strRef>
          </c:tx>
          <c:spPr>
            <a:solidFill>
              <a:srgbClr val="2A4BDF"/>
            </a:solidFill>
            <a:effectLst/>
          </c:spPr>
          <c:invertIfNegative val="0"/>
          <c:dLbls>
            <c:numFmt formatCode="R$ #,##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7140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 ativos</c:v>
                  </c:pt>
                  <c:pt idx="1">
                    <c:v>100</c:v>
                  </c:pt>
                  <c:pt idx="2">
                    <c:v>1.000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28.88</c:v>
                </c:pt>
                <c:pt idx="1">
                  <c:v>5.57</c:v>
                </c:pt>
                <c:pt idx="2">
                  <c:v>3.24</c:v>
                </c:pt>
              </c:numCache>
            </c:numRef>
          </c:val>
        </c:ser>
        <c:dLbls>
          <c:numFmt formatCode="R$ #,##0.00" sourceLinked="0"/>
          <c:txPr>
            <a:bodyPr/>
            <a:lstStyle/>
            <a:p>
              <a:pPr>
                <a:defRPr b="1" i="0" strike="noStrike" sz="1200" u="none">
                  <a:solidFill>
                    <a:srgbClr val="17140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7140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Uso do aporte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E4A1D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27EB5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3E9152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2A4BDF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4"/>
            <c:bubble3D val="0"/>
            <c:spPr>
              <a:solidFill>
                <a:srgbClr val="F2C21E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5"/>
            <c:bubble3D val="0"/>
            <c:spPr>
              <a:solidFill>
                <a:srgbClr val="8A8578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Pt>
            <c:idx val="6"/>
            <c:bubble3D val="0"/>
            <c:spPr>
              <a:solidFill>
                <a:srgbClr val="E9E2D2"/>
              </a:solidFill>
              <a:ln w="25400" cap="flat">
                <a:solidFill>
                  <a:srgbClr val="F4EFE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Tráfego pago</c:v>
                </c:pt>
                <c:pt idx="1">
                  <c:v>UGC e influenciadores</c:v>
                </c:pt>
                <c:pt idx="2">
                  <c:v>Parcerias</c:v>
                </c:pt>
                <c:pt idx="3">
                  <c:v>Vídeo e motion</c:v>
                </c:pt>
                <c:pt idx="4">
                  <c:v>Design</c:v>
                </c:pt>
                <c:pt idx="5">
                  <c:v>Marcas e registro (INPI)</c:v>
                </c:pt>
                <c:pt idx="6">
                  <c:v>Reserva de segurança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120000</c:v>
                </c:pt>
                <c:pt idx="1">
                  <c:v>40800</c:v>
                </c:pt>
                <c:pt idx="2">
                  <c:v>30000</c:v>
                </c:pt>
                <c:pt idx="3">
                  <c:v>24000</c:v>
                </c:pt>
                <c:pt idx="4">
                  <c:v>12000</c:v>
                </c:pt>
                <c:pt idx="5">
                  <c:v>8000</c:v>
                </c:pt>
                <c:pt idx="6">
                  <c:v>15200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Assinantes</c:v>
                </c:pt>
              </c:strCache>
            </c:strRef>
          </c:tx>
          <c:spPr>
            <a:solidFill>
              <a:srgbClr val="CE4A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1143</c:v>
                </c:pt>
                <c:pt idx="1">
                  <c:v>1983</c:v>
                </c:pt>
                <c:pt idx="2">
                  <c:v>2601</c:v>
                </c:pt>
                <c:pt idx="3">
                  <c:v>3055</c:v>
                </c:pt>
                <c:pt idx="4">
                  <c:v>3389</c:v>
                </c:pt>
                <c:pt idx="5">
                  <c:v>3634</c:v>
                </c:pt>
                <c:pt idx="6">
                  <c:v>3815</c:v>
                </c:pt>
                <c:pt idx="7">
                  <c:v>3947</c:v>
                </c:pt>
                <c:pt idx="8">
                  <c:v>4045</c:v>
                </c:pt>
                <c:pt idx="9">
                  <c:v>4116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Renda mensal do investidor (R$)</c:v>
                </c:pt>
              </c:strCache>
            </c:strRef>
          </c:tx>
          <c:spPr>
            <a:solidFill>
              <a:srgbClr val="3E9152"/>
            </a:solidFill>
            <a:ln w="38100" cap="flat">
              <a:solidFill>
                <a:srgbClr val="3E91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3E9152"/>
              </a:solidFill>
              <a:ln w="9525" cap="flat">
                <a:solidFill>
                  <a:srgbClr val="3E91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5472</c:v>
                </c:pt>
                <c:pt idx="3">
                  <c:v>7436</c:v>
                </c:pt>
                <c:pt idx="4">
                  <c:v>8880</c:v>
                </c:pt>
                <c:pt idx="5">
                  <c:v>9941</c:v>
                </c:pt>
                <c:pt idx="6">
                  <c:v>10722</c:v>
                </c:pt>
                <c:pt idx="7">
                  <c:v>11295</c:v>
                </c:pt>
                <c:pt idx="8">
                  <c:v>11717</c:v>
                </c:pt>
                <c:pt idx="9">
                  <c:v>12027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0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300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3E9152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7140F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Posição líquida (R$ mil)</c:v>
                </c:pt>
              </c:strCache>
            </c:strRef>
          </c:tx>
          <c:spPr>
            <a:solidFill>
              <a:srgbClr val="2A4BDF"/>
            </a:solidFill>
            <a:ln w="44450" cap="flat">
              <a:solidFill>
                <a:srgbClr val="2A4BD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A4BDF"/>
              </a:solidFill>
              <a:ln w="9525" cap="flat">
                <a:solidFill>
                  <a:srgbClr val="2A4BD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m6</c:v>
                  </c:pt>
                  <c:pt idx="1">
                    <c:v>m12</c:v>
                  </c:pt>
                  <c:pt idx="2">
                    <c:v>m18</c:v>
                  </c:pt>
                  <c:pt idx="3">
                    <c:v>m24</c:v>
                  </c:pt>
                  <c:pt idx="4">
                    <c:v>m30</c:v>
                  </c:pt>
                  <c:pt idx="5">
                    <c:v>m36</c:v>
                  </c:pt>
                  <c:pt idx="6">
                    <c:v>m42</c:v>
                  </c:pt>
                  <c:pt idx="7">
                    <c:v>m48</c:v>
                  </c:pt>
                  <c:pt idx="8">
                    <c:v>m54</c:v>
                  </c:pt>
                  <c:pt idx="9">
                    <c:v>m60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-250</c:v>
                </c:pt>
                <c:pt idx="1">
                  <c:v>-250</c:v>
                </c:pt>
                <c:pt idx="2">
                  <c:v>-223.4</c:v>
                </c:pt>
                <c:pt idx="3">
                  <c:v>-183.4</c:v>
                </c:pt>
                <c:pt idx="4">
                  <c:v>-133.6</c:v>
                </c:pt>
                <c:pt idx="5">
                  <c:v>-76.4</c:v>
                </c:pt>
                <c:pt idx="6">
                  <c:v>-13.9</c:v>
                </c:pt>
                <c:pt idx="7">
                  <c:v>52.5</c:v>
                </c:pt>
                <c:pt idx="8">
                  <c:v>121.8</c:v>
                </c:pt>
                <c:pt idx="9">
                  <c:v>193.3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-260"/>
        </c:scaling>
        <c:delete val="0"/>
        <c:axPos val="l"/>
        <c:majorGridlines>
          <c:spPr>
            <a:ln w="6350" cap="flat">
              <a:solidFill>
                <a:srgbClr val="DDD5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E63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dois produtos que eu já construí e que estão no ar. Não estou pedindo dinheiro pra desenvolver nada: estou propondo sociedade pra escalar o que já existe.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Storytelling de abertura, sem falar de dinheiro ainda: o CRIA saiu da operação de social media da Gabriela (cada tela é uma dor real); o Atlas saiu do estudo de 300+ planejamentos de famílias. A frase final planta a curiosidade: 'combustível pra crescer' prepara o pedido que só vem no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dor é real e eu vivi as duas: o CRIA nasceu da operação de social media da Gabriela; o Atlas nasceu do estudo de mais de 300 planejamentos financeiros de famílias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produto vivo se possível (abrir o app depois do slide). O diferencial: uma coisa puxa a outra: ideia vira post, post entra no quadro, quadro preenche o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públicos = duas portas de receita no mesmo código. E um alimenta o outro: o social media traz os clientes dele pro CRIA.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Atlas = planejador financeiro automatizado. O comparativo matador: um humano cobra R$ 2.400/ano; o Atlas faz o trabalho estrutural por R$ 298/ano.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precisamos de 1% desses mercados. 1.000 assinantes = 0,05% dos criadores do Brasil. A meta é ridiculamente pequena perto do tamanho do bolo.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Pesquisa de mercado de junho/2026: preços reais dos concorrentes. Os globais (Later, Buffer) cobram em dólar e não têm CRM nem financeiro. Os BR só agendam.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que o investidor faz: 'e se o Mobills copiar?' Resposta: o Método Atlas (5 relatórios + 300 planejamentos estudados) é conteúdo proprietário, e o custo deles de virar a chave de produto é alto: eles vivem de anúncio e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anti-risco mais forte do deck: ninguém precisa acreditar em projeção, os concorrentes de UM pedaço já provaram que o mercado paga. Metricool foi vendida por mais de €100 milhões fazendo só métricas. A meta de 1.000 assinantes é 0,7% da base da mLabs: não estamos assumindo nenhum milagre de mercado, só uma fração pequena de uma demanda já comprovada.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é o argumento de urgência: cada mês parado é CAC mais caro no futuro e espaço pros concorrentes acordarem.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começa o capítulo de estratégia: mostrar que existe um plano com ordem e critério, não um 'me dá dinheiro pra anunciar'. A fase 1 já está em execução: prints batidos, LP no ar, pixel pendente de ID, contas demo prontas.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 o 'por que não meio a meio?': foco vence. O algoritmo de anúncio também funciona melhor com verba concentrada. O Atlas não fica parado: fica em validação barata, herdando os aprendizados, e assume o palco no ano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pedagógico de propósito: o Márcio é leigo em marketing digital. A lista de nichos vem do mapeamento de quem contrata social media no Brasil (estética, saúde, gastronomia, moda, fitness). Já existe a pendência de trocar depoimentos ilustrativos por reais antes de rodar tráfego (regra Meta/CONAR): entra na fase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 que o plano de lançamento já está em execução, não é intenção. Reforço importante: as projeções financeiras deste deck NÃO consideram o efeito desse barulho coordenado, elas assumem só o tráfego pago funcionando. Tudo que vier de UGC e influenciador é ganho acima do previsto.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1 minuto: garantir que ninguém finge que entendeu sigla. A partir daqui, os números falam.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Todos os valores são os que eu já pratico ou cotei: design a R$ 50/post, edição a R$ 300/vídeo, UGC entre R$ 450 e R$ 1.250 por publi.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assinantes acumulados por mês, variando só o custo por assinante, e já descontando cancelamentos. O ponto mais importante de falar aqui: essa curva assume APENAS tráfego pago, que é o canal mais previsível e mais caro. Uma única publi bem colocada com influenciador do nicho (R$ 2 a 3 mil) pode trazer 300-400 assinantes de uma vez, e isso não está em nenhuma linha do gráfico. É por isso que a gente chama esse plano de conservador: o efeito do UGC e dos influenciadores entra como ganho por cima, não como premissa.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Ponto-chave da conversa: todo o modelo financeiro foi montado com o ticket mais baixo defensável. O Studio (R$49,90) é o plano âncora do criador e leva 75% da verba; o social media com módulos passa de R$165; e os packs vendidos dentro do sistema são receita sem custo de aquisição. Se o mix real ficar melhor que R$31, tudo que veio antes melhora junto.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Premissas: conservador = ticket R$30,90, CAC R$46, cancelamento 5%, zero orgânico (é o cenário de todos os slides anteriores). Mediano = ticket R$39 (mix real + módulos + packs), CAC R$50, +20% de assinantes vindos de UGC/indicação. Agressivo = ticket R$54, CAC R$46, cancelamento 4%, +40% orgânico. Teto de assinantes: 4.315 / 4.800 / 7.609. Lucro mensal no teto: R$64 mil / R$101 mil / R$258 mil.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que 1.000 é marco de validação, não o fim. O teto de 4.300 vem da conta: novos assinantes/mês ÷ churn. Pra ir além, escala-se a verba, com o caixa da própria operação ou nova rodada.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Premissas: ticket médio R$ 30,90; custo direto de 30% da receita (taxas de cartão, impostos do Simples, infraestrutura e IA); máquina de marketing sobe de R$ 18,9 mil pra R$ 30 mil (5.000) e R$ 55 mil (10.000); equipe cresce junto: CS nos 1.000 (R$ 3 mil), dev+CS+design nos 2.000 (R$ 13 mil), time de 4-5 nos 5.000 (R$ 25 mil), 6-7 nos 10.000 (R$ 45 mil). Nos 1.000 é empate de propósito: é o ponto onde a operação se sustenta sozinha; daí em diante a margem só cresce (18% → 34% → 38%), porque o custo cresce muito mais devagar que a receita.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argumento: software tem custo quase fixo. O servidor que atende 10 atende 1.000, então o custo por cliente despenca de ~R$ 30 pra ~R$ 3,30 e a margem cresce sozinha. Atlas: números medidos na planilha de custos (OpenAI + infra + vídeo + Stripe, câmbio 5,18). CRIA: estimativa com premissas abertas (infra fixa ~R$ 300/mês + ~R$ 3/cliente de IA e módulos), a validar com a telemetria quando a base crescer. Margem por cliente na escala: CRIA 32,90 − 3,30 − 4,4% Stripe − 8% imposto ≈ R$ 25,52 (78%); Atlas 24,90 − 3,24 − 8% ≈ R$ 19,67 (79%).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mais importante pra um investidor: unit economics. Com LTV/CAC 13x, o risco não é 'o modelo funciona?', é só execução de aquisição.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Ancoragem: abrir em 20%, teto interno 25%, nunca passar disso. Se o Márcio pedir mais, trocar % por valor: mais aporte, não mais participação.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Investidor gosta de ver que o dinheiro não vira pró-labore. 94% do aporte vai direto pra aquisição de clientes; o resto é registro de marca e colchão.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a combinar com ele: abrir os dois CNPJs antes de assinar, para que a sociedade nasça formal e cada marca fique registrada no INPI pelo CNPJ correto (é isso que protege a marca de verdade). Os R$12 mil já estão previstos no uso do aporte, e o contador (R$800/mês somando as duas) é custo recorrente da operação, não do investidor. Se ele preferir uma holding única, também funciona: o importante é registrar as marcas por CNPJ.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slide responde a pergunta que todo investidor faz em silêncio: 'e o que eu recebo de acompanhamento?'. Oferecer o relatório mensal e a reunião trimestral já formatados passa seriedade e evita cobrança depois. O painel aberto usando o próprio Cria Caixa é uma prova de produto: a gente usa o que vende.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ROI (retorno sobre o investimento) mostrado dos dois jeitos: renda (lucros) e patrimônio (valorização). Múltiplo de 3× ARR é conservador pra SaaS com LTV/CAC de dois dígitos.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responde 'como o dinheiro volta pro meu bolso' de forma literal. Números do cenário base (CAC R$ 46, churn 5%, margem 70%, lucro distribuído integralmente a partir do ano 2; no ano 1 o lucro é pequeno e volta pro crescimento). Ano 5 em diante: ~R$ 140 mil/ano na fatia de 20%. Se o Márcio preferir caixa antes, dá pra pactuar distribuição trimestral a partir do primeiro trimestre lucrativo, trocando um pouco de velocidade de crescimento por renda. O tag along e a política de distribuição entram no acordo de sociedade (slide seguinte fala das proteções).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dois gráficos contam a história completa em 5 anos, cenário base: à esquerda, a base de assinantes crescendo (barras, eixo esquerdo) puxa a renda mensal dele (linha verde, eixo direito) de zero pra ~R$ 12 mil/mês. À direita, o 'desinvestimento': a posição líquida começa em −250 mil, cruza o zero no mês 44 e fecha o ano 5 em +193 mil, ainda sendo dono de 20%. Ponto de conversa: essa é a trajetória SEM subir de nível de verba; se reinvestirmos mais pesado (slide do lucro por escala), a curva inteira desloca pra cima.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Antecipar as objeções antes que o Márcio faça. A mais provável: 'e se o tráfego não converter?' → tranches por meta + margem de 13x + realocação entre os dois produtos.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Falar esse slide olhando pra ele, sem pressa e sem ler. É o momento humano da apresentação, logo depois de todos os números: mostra que por trás da planilha tem uma história e uma convicção. Depois dele vem só o fechamento com os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convite direto: 'Quero você dentro. Qual formato de aporte faz mais sentido pra você?', e deixar a decisão do formato (não do SIM) pra 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1.png"/><Relationship Id="rId10" Type="http://schemas.openxmlformats.org/officeDocument/2006/relationships/image" Target="../media/image-11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4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5" Type="http://schemas.openxmlformats.org/officeDocument/2006/relationships/chart" Target="/ppt/charts/chart6.xm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1.png"/><Relationship Id="rId9" Type="http://schemas.openxmlformats.org/officeDocument/2006/relationships/image" Target="../media/image-27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1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image" Target="../media/image-28-11.png"/><Relationship Id="rId12" Type="http://schemas.openxmlformats.org/officeDocument/2006/relationships/image" Target="../media/image-28-12.png"/><Relationship Id="rId13" Type="http://schemas.openxmlformats.org/officeDocument/2006/relationships/image" Target="../media/image-28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1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3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2.png"/><Relationship Id="rId8" Type="http://schemas.openxmlformats.org/officeDocument/2006/relationships/image" Target="../media/image-32-8.png"/><Relationship Id="rId9" Type="http://schemas.openxmlformats.org/officeDocument/2006/relationships/image" Target="../media/image-32-9.png"/><Relationship Id="rId10" Type="http://schemas.openxmlformats.org/officeDocument/2006/relationships/image" Target="../media/image-32-10.png"/><Relationship Id="rId11" Type="http://schemas.openxmlformats.org/officeDocument/2006/relationships/image" Target="../media/image-32-11.png"/><Relationship Id="rId12" Type="http://schemas.openxmlformats.org/officeDocument/2006/relationships/image" Target="../media/image-32-12.png"/><Relationship Id="rId13" Type="http://schemas.openxmlformats.org/officeDocument/2006/relationships/image" Target="../media/image-32-3.png"/><Relationship Id="rId14" Type="http://schemas.openxmlformats.org/officeDocument/2006/relationships/image" Target="../media/image-32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2.png"/><Relationship Id="rId4" Type="http://schemas.openxmlformats.org/officeDocument/2006/relationships/image" Target="../media/image-34-2.png"/><Relationship Id="rId5" Type="http://schemas.openxmlformats.org/officeDocument/2006/relationships/image" Target="../media/image-34-2.png"/><Relationship Id="rId6" Type="http://schemas.openxmlformats.org/officeDocument/2006/relationships/image" Target="../media/image-34-6.png"/><Relationship Id="rId7" Type="http://schemas.openxmlformats.org/officeDocument/2006/relationships/image" Target="../media/image-34-7.png"/><Relationship Id="rId8" Type="http://schemas.openxmlformats.org/officeDocument/2006/relationships/image" Target="../media/image-34-8.png"/><Relationship Id="rId9" Type="http://schemas.openxmlformats.org/officeDocument/2006/relationships/image" Target="../media/image-34-9.png"/><Relationship Id="rId10" Type="http://schemas.openxmlformats.org/officeDocument/2006/relationships/image" Target="../media/image-34-10.png"/><Relationship Id="rId11" Type="http://schemas.openxmlformats.org/officeDocument/2006/relationships/image" Target="../media/image-3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-1554480"/>
            <a:ext cx="3840480" cy="3840480"/>
          </a:xfrm>
          <a:prstGeom prst="rect">
            <a:avLst/>
          </a:prstGeom>
        </p:spPr>
      </p:pic>
      <p:pic>
        <p:nvPicPr>
          <p:cNvPr id="3" name="Image 1" descr="assets/blob-yellow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417320" y="4480560"/>
            <a:ext cx="3108960" cy="3108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1920240"/>
            <a:ext cx="566928" cy="566928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Shape 1"/>
          <p:cNvSpPr/>
          <p:nvPr/>
        </p:nvSpPr>
        <p:spPr>
          <a:xfrm>
            <a:off x="11384280" y="3063240"/>
            <a:ext cx="365760" cy="365760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Shape 2"/>
          <p:cNvSpPr/>
          <p:nvPr/>
        </p:nvSpPr>
        <p:spPr>
          <a:xfrm>
            <a:off x="1874520" y="5440680"/>
            <a:ext cx="274320" cy="274320"/>
          </a:xfrm>
          <a:prstGeom prst="ellipse">
            <a:avLst/>
          </a:prstGeom>
          <a:solidFill>
            <a:srgbClr val="2A4BDF"/>
          </a:solidFill>
          <a:ln/>
        </p:spPr>
      </p:sp>
      <p:pic>
        <p:nvPicPr>
          <p:cNvPr id="7" name="Image 2" descr="assets/logo-c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4680" y="1170432"/>
            <a:ext cx="2880360" cy="158191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53328" y="1481328"/>
            <a:ext cx="685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×</a:t>
            </a:r>
            <a:endParaRPr lang="en-US" sz="5000" dirty="0"/>
          </a:p>
        </p:txBody>
      </p:sp>
      <p:pic>
        <p:nvPicPr>
          <p:cNvPr id="9" name="Image 3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960120"/>
            <a:ext cx="1965960" cy="19659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97280" y="3383280"/>
            <a:ext cx="9994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produtos prontos.
</a:t>
            </a:r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plano pra </a:t>
            </a:r>
            <a:pPr algn="ctr" indent="0" marL="0">
              <a:lnSpc>
                <a:spcPct val="108000"/>
              </a:lnSpc>
              <a:buNone/>
            </a:pPr>
            <a:r>
              <a:rPr lang="en-US" sz="31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dominar dois mercados.</a:t>
            </a:r>
            <a:endParaRPr lang="en-US" sz="3100" dirty="0"/>
          </a:p>
        </p:txBody>
      </p:sp>
      <p:sp>
        <p:nvSpPr>
          <p:cNvPr id="11" name="Text 5"/>
          <p:cNvSpPr/>
          <p:nvPr/>
        </p:nvSpPr>
        <p:spPr>
          <a:xfrm>
            <a:off x="2148840" y="5074920"/>
            <a:ext cx="7891272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3A3225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sociedade e investimento  ·  preparada para </a:t>
            </a:r>
            <a:pPr algn="ctr" indent="0" marL="0">
              <a:buNone/>
            </a:pPr>
            <a:r>
              <a:rPr lang="en-US" sz="13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Márcio Talgatti</a:t>
            </a:r>
            <a:pPr algn="ctr"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agosto de 2026</a:t>
            </a:r>
            <a:endParaRPr lang="en-US" sz="1300" dirty="0"/>
          </a:p>
        </p:txBody>
      </p:sp>
      <p:pic>
        <p:nvPicPr>
          <p:cNvPr id="12" name="Image 4" descr="assets/st-lampad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0" y="4892040"/>
            <a:ext cx="1371600" cy="1371600"/>
          </a:xfrm>
          <a:prstGeom prst="rect">
            <a:avLst/>
          </a:prstGeom>
        </p:spPr>
      </p:pic>
      <p:pic>
        <p:nvPicPr>
          <p:cNvPr id="13" name="Image 5" descr="assets/st-mochil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617720"/>
            <a:ext cx="1234440" cy="1341783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02920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777240"/>
            <a:ext cx="1737360" cy="1737360"/>
          </a:xfrm>
          <a:prstGeom prst="rect">
            <a:avLst/>
          </a:prstGeom>
        </p:spPr>
      </p:pic>
      <p:pic>
        <p:nvPicPr>
          <p:cNvPr id="3" name="Image 1" descr="assets/blob-oran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48640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7752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1 · A ORIGEM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Isso não nasceu em reunião.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na prática.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logo-cri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47088"/>
            <a:ext cx="1298448" cy="71323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68680" y="2670048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de quem cria e de quem gerencia conteúdo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68680" y="3291840"/>
            <a:ext cx="480060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criador: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que morria no bloco de notas, a legenda travada, o domingo às 23h montando post em cima da hora.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social media: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por print no WhatsApp, relatório de 3 horas, financeiro na planilha.
</a:t>
            </a:r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dores vividas na pele, um sistema só. Está no ar, cobrando.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18288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565392" y="2834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Nasceu do estudo de 300+ planejamentos financeiros reais</a:t>
            </a:r>
            <a:endParaRPr lang="en-US" sz="1500" dirty="0"/>
          </a:p>
        </p:txBody>
      </p:sp>
      <p:sp>
        <p:nvSpPr>
          <p:cNvPr id="15" name="Text 9"/>
          <p:cNvSpPr/>
          <p:nvPr/>
        </p:nvSpPr>
        <p:spPr>
          <a:xfrm>
            <a:off x="6565392" y="35204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Famílias brasileiras de verdade, plano a plano, até virar um método próprio: os 5 relatórios do Método Atlas.
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trabalho de um planejador humano, entregue a preço de aplicativo.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02920" y="562356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1"/>
          <p:cNvSpPr/>
          <p:nvPr/>
        </p:nvSpPr>
        <p:spPr>
          <a:xfrm>
            <a:off x="868680" y="5742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produtos prontos, construídos do jeito difícil.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falta não é produto. É combustível pra crescer, e é disso que essa conversa trata.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-86868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532120"/>
            <a:ext cx="1828800" cy="18288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372160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ESSES PRODUTOS EXISTEM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mercados gigantes,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mesma dor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orang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01952"/>
            <a:ext cx="640080" cy="64008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" y="2081174"/>
            <a:ext cx="281635" cy="28163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645920" y="1920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vive de conteúdo trabalha espalhado</a:t>
            </a:r>
            <a:endParaRPr lang="en-US" sz="1600" dirty="0"/>
          </a:p>
        </p:txBody>
      </p:sp>
      <p:sp>
        <p:nvSpPr>
          <p:cNvPr id="12" name="Text 6"/>
          <p:cNvSpPr/>
          <p:nvPr/>
        </p:nvSpPr>
        <p:spPr>
          <a:xfrm>
            <a:off x="822960" y="2743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Criadores e social medias operam em 4 a 6 apps que não conversam entre si: ideia no bloco de notas, aprovação por print no WhatsApp, financeiro numa planilha.</a:t>
            </a:r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 R$ 200+ por mês num quebra-cabeça de ferramentas, e quem faz a integração entre elas são eles mesmos, na mão.</a:t>
            </a:r>
            <a:endParaRPr lang="en-US" sz="1300" dirty="0"/>
          </a:p>
        </p:txBody>
      </p:sp>
      <p:sp>
        <p:nvSpPr>
          <p:cNvPr id="13" name="Text 7"/>
          <p:cNvSpPr/>
          <p:nvPr/>
        </p:nvSpPr>
        <p:spPr>
          <a:xfrm>
            <a:off x="822960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milhões de criadores no Brasil, o dobro de um ano atrás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6199632" y="1645920"/>
            <a:ext cx="5486400" cy="374904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4" descr="assets/blob-blu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901952"/>
            <a:ext cx="640080" cy="640080"/>
          </a:xfrm>
          <a:prstGeom prst="rect">
            <a:avLst/>
          </a:prstGeom>
        </p:spPr>
      </p:pic>
      <p:pic>
        <p:nvPicPr>
          <p:cNvPr id="1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8894" y="2081174"/>
            <a:ext cx="281635" cy="281635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7342632" y="19202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brasileiro não tem plano financeiro</a:t>
            </a:r>
            <a:endParaRPr lang="en-US" sz="1600" dirty="0"/>
          </a:p>
        </p:txBody>
      </p:sp>
      <p:sp>
        <p:nvSpPr>
          <p:cNvPr id="18" name="Text 10"/>
          <p:cNvSpPr/>
          <p:nvPr/>
        </p:nvSpPr>
        <p:spPr>
          <a:xfrm>
            <a:off x="6519672" y="274320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apps de finanças mais usados só mostram pra onde o dinheiro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foi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funcionam como retrovisor.</a:t>
            </a:r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planejador financeiro de verdade custa R$ 650 por consulta ou R$ 2.400 por ano. Ninguém entrega o plano do futuro (projeção, simulação, aposentadoria) por preço de aplicativo.</a:t>
            </a:r>
            <a:endParaRPr lang="en-US" sz="1300" dirty="0"/>
          </a:p>
        </p:txBody>
      </p:sp>
      <p:sp>
        <p:nvSpPr>
          <p:cNvPr id="19" name="Text 11"/>
          <p:cNvSpPr/>
          <p:nvPr/>
        </p:nvSpPr>
        <p:spPr>
          <a:xfrm>
            <a:off x="6519672" y="4846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Atlas entrega isso por R$ 24,90/mês</a:t>
            </a:r>
            <a:endParaRPr lang="en-US" sz="1250" dirty="0"/>
          </a:p>
        </p:txBody>
      </p:sp>
      <p:sp>
        <p:nvSpPr>
          <p:cNvPr id="20" name="Shape 12"/>
          <p:cNvSpPr/>
          <p:nvPr/>
        </p:nvSpPr>
        <p:spPr>
          <a:xfrm>
            <a:off x="502920" y="5623560"/>
            <a:ext cx="11183112" cy="731520"/>
          </a:xfrm>
          <a:prstGeom prst="roundRect">
            <a:avLst>
              <a:gd name="adj" fmla="val 175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1" name="Text 13"/>
          <p:cNvSpPr/>
          <p:nvPr/>
        </p:nvSpPr>
        <p:spPr>
          <a:xfrm>
            <a:off x="868680" y="573328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lacuna é a mesma nos dois mercados: </a:t>
            </a:r>
            <a:pPr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o sistema completo, em português, por preço acessível.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3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88720"/>
            <a:ext cx="2103120" cy="2103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1018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estúdio completo de quem cria conteúdo</a:t>
            </a:r>
            <a:endParaRPr lang="en-US" sz="2900" dirty="0"/>
          </a:p>
        </p:txBody>
      </p:sp>
      <p:pic>
        <p:nvPicPr>
          <p:cNvPr id="7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" cy="51206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8" y="1835018"/>
            <a:ext cx="225308" cy="2253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16367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ciclo inteiro num lugar só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188720" y="198424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entra crua e sai post publicado: banco de ideias → quadro de produção → calendário. Nada se perde no caminho.</a:t>
            </a:r>
            <a:endParaRPr lang="en-US" sz="1150" dirty="0"/>
          </a:p>
        </p:txBody>
      </p:sp>
      <p:pic>
        <p:nvPicPr>
          <p:cNvPr id="11" name="Image 3" descr="assets/blob-blue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25496"/>
            <a:ext cx="512064" cy="512064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8" y="2968874"/>
            <a:ext cx="225308" cy="2253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2770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IA com a voz do usuário</a:t>
            </a:r>
            <a:endParaRPr lang="en-US" sz="1450" dirty="0"/>
          </a:p>
        </p:txBody>
      </p:sp>
      <p:sp>
        <p:nvSpPr>
          <p:cNvPr id="14" name="Text 7"/>
          <p:cNvSpPr/>
          <p:nvPr/>
        </p:nvSpPr>
        <p:spPr>
          <a:xfrm>
            <a:off x="1188720" y="31181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brandbook (tom de voz, pilares, persona) conduz toda legenda, roteiro e sugestão. Não parece texto de robô.</a:t>
            </a:r>
            <a:endParaRPr lang="en-US" sz="1150" dirty="0"/>
          </a:p>
        </p:txBody>
      </p:sp>
      <p:pic>
        <p:nvPicPr>
          <p:cNvPr id="15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959352"/>
            <a:ext cx="512064" cy="512064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298" y="4102730"/>
            <a:ext cx="225308" cy="2253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88720" y="39044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 Plano: o mês montado em 1 clique</a:t>
            </a:r>
            <a:endParaRPr lang="en-US" sz="1450" dirty="0"/>
          </a:p>
        </p:txBody>
      </p:sp>
      <p:sp>
        <p:nvSpPr>
          <p:cNvPr id="18" name="Text 9"/>
          <p:cNvSpPr/>
          <p:nvPr/>
        </p:nvSpPr>
        <p:spPr>
          <a:xfrm>
            <a:off x="1188720" y="42519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Tema, formato, gancho, data e horário de cada post, a partir do que já performou no perfil do usuário.</a:t>
            </a:r>
            <a:endParaRPr lang="en-US" sz="1150" dirty="0"/>
          </a:p>
        </p:txBody>
      </p:sp>
      <p:pic>
        <p:nvPicPr>
          <p:cNvPr id="19" name="Image 7" descr="assets/blob-pink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5093208"/>
            <a:ext cx="512064" cy="512064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98" y="5236586"/>
            <a:ext cx="225308" cy="22530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1188720" y="5038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o estúdio completo junto</a:t>
            </a:r>
            <a:endParaRPr lang="en-US" sz="1450" dirty="0"/>
          </a:p>
        </p:txBody>
      </p:sp>
      <p:sp>
        <p:nvSpPr>
          <p:cNvPr id="22" name="Text 11"/>
          <p:cNvSpPr/>
          <p:nvPr/>
        </p:nvSpPr>
        <p:spPr>
          <a:xfrm>
            <a:off x="1188720" y="538581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 planejados, teleprompter, media kit, link na bio, tendências do nicho e insights reais do Instagram.</a:t>
            </a:r>
            <a:endParaRPr lang="en-US" sz="1150" dirty="0"/>
          </a:p>
        </p:txBody>
      </p:sp>
      <p:sp>
        <p:nvSpPr>
          <p:cNvPr id="23" name="Shape 12"/>
          <p:cNvSpPr/>
          <p:nvPr/>
        </p:nvSpPr>
        <p:spPr>
          <a:xfrm>
            <a:off x="6245352" y="1627632"/>
            <a:ext cx="5522976" cy="3410712"/>
          </a:xfrm>
          <a:prstGeom prst="roundRect">
            <a:avLst>
              <a:gd name="adj" fmla="val 241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4" name="Image 9" descr="assets/cria-plan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0" y="1691640"/>
            <a:ext cx="5394960" cy="3282696"/>
          </a:xfrm>
          <a:prstGeom prst="rect">
            <a:avLst/>
          </a:prstGeom>
        </p:spPr>
      </p:pic>
      <p:sp>
        <p:nvSpPr>
          <p:cNvPr id="25" name="Text 13"/>
          <p:cNvSpPr/>
          <p:nvPr/>
        </p:nvSpPr>
        <p:spPr>
          <a:xfrm>
            <a:off x="6309360" y="5093208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 real do CRIA: o Cria Plano montando o mês inteiro do criador.</a:t>
            </a:r>
            <a:endParaRPr lang="en-US" sz="1050" dirty="0"/>
          </a:p>
        </p:txBody>
      </p:sp>
      <p:sp>
        <p:nvSpPr>
          <p:cNvPr id="26" name="Text 14"/>
          <p:cNvSpPr/>
          <p:nvPr/>
        </p:nvSpPr>
        <p:spPr>
          <a:xfrm rot="-120000">
            <a:off x="6766560" y="562356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app.criasocialclub.com.br · no ar e cobrando ✓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8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566928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6164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204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1 · MODELO DE NEGÓCIO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sistema,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públicos pagantes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83664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037283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6192" y="1947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criador de conteúdo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822960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Assinatura mensal, teste grátis de 7 dias: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22960" y="29260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3200400" y="292608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22960" y="331012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 (ticket médio usado no plano)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3200400" y="33101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R$ 32,90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22960" y="36941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3200400" y="3694176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822960" y="4215384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Substitui um combo de ferramentas avulsas de R$ 200+/mês. Por isso converte.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828032" y="1645920"/>
            <a:ext cx="4160520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2" y="1883664"/>
            <a:ext cx="548640" cy="548640"/>
          </a:xfrm>
          <a:prstGeom prst="rect">
            <a:avLst/>
          </a:prstGeom>
        </p:spPr>
      </p:pic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1691" y="2037283"/>
            <a:ext cx="241402" cy="24140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861304" y="194767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social media (gestor)</a:t>
            </a:r>
            <a:endParaRPr lang="en-US" sz="1550" dirty="0"/>
          </a:p>
        </p:txBody>
      </p:sp>
      <p:sp>
        <p:nvSpPr>
          <p:cNvPr id="23" name="Text 16"/>
          <p:cNvSpPr/>
          <p:nvPr/>
        </p:nvSpPr>
        <p:spPr>
          <a:xfrm>
            <a:off x="5148072" y="25603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grátis + módulos à la carte: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5148072" y="29260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Post (aprovação por link)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7772400" y="2926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6" name="Text 19"/>
          <p:cNvSpPr/>
          <p:nvPr/>
        </p:nvSpPr>
        <p:spPr>
          <a:xfrm>
            <a:off x="5148072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Captação (dia de gravação)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7772400" y="32461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5148072" y="35661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Caixa (financeiro)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7772400" y="356616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R$ 24,90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148072" y="38862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Gestão (CRM*)</a:t>
            </a:r>
            <a:endParaRPr lang="en-US" sz="1100" dirty="0"/>
          </a:p>
        </p:txBody>
      </p:sp>
      <p:sp>
        <p:nvSpPr>
          <p:cNvPr id="31" name="Text 24"/>
          <p:cNvSpPr/>
          <p:nvPr/>
        </p:nvSpPr>
        <p:spPr>
          <a:xfrm>
            <a:off x="7772400" y="38862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R$ 29,90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148072" y="42062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Radar (concorrentes)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7772400" y="42062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5148072" y="45262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Carteira: cada +10 clientes**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7772400" y="4526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R$ 19,90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5148072" y="4901184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 típico: R$ 74,70/mês.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*CRM = gestão de clientes e vendas. **os 3 primeiros clientes são grátis.</a:t>
            </a:r>
            <a:endParaRPr lang="en-US" sz="1150" dirty="0"/>
          </a:p>
        </p:txBody>
      </p:sp>
      <p:sp>
        <p:nvSpPr>
          <p:cNvPr id="37" name="Shape 30"/>
          <p:cNvSpPr/>
          <p:nvPr/>
        </p:nvSpPr>
        <p:spPr>
          <a:xfrm>
            <a:off x="9400032" y="1581912"/>
            <a:ext cx="1938528" cy="4059936"/>
          </a:xfrm>
          <a:prstGeom prst="roundRect">
            <a:avLst>
              <a:gd name="adj" fmla="val 4245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38" name="Image 5" descr="assets/portal-mobi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64040" y="1645920"/>
            <a:ext cx="1810512" cy="3931920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9189720" y="5687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de aprovação com a marca do cliente</a:t>
            </a:r>
            <a:endParaRPr lang="en-US" sz="950" dirty="0"/>
          </a:p>
        </p:txBody>
      </p:sp>
      <p:sp>
        <p:nvSpPr>
          <p:cNvPr id="40" name="Shape 32"/>
          <p:cNvSpPr/>
          <p:nvPr/>
        </p:nvSpPr>
        <p:spPr>
          <a:xfrm>
            <a:off x="502920" y="5742432"/>
            <a:ext cx="8485632" cy="658368"/>
          </a:xfrm>
          <a:prstGeom prst="roundRect">
            <a:avLst>
              <a:gd name="adj" fmla="val 1944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1" name="Text 33"/>
          <p:cNvSpPr/>
          <p:nvPr/>
        </p:nvSpPr>
        <p:spPr>
          <a:xfrm>
            <a:off x="822960" y="5843016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Efeito rede: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Modo Agência, cada cliente do social media ganha uma conta CRIA: o gestor puxa o criador pra dentro do sistema.</a:t>
            </a:r>
            <a:endParaRPr lang="en-US" sz="1250" dirty="0"/>
          </a:p>
        </p:txBody>
      </p:sp>
      <p:sp>
        <p:nvSpPr>
          <p:cNvPr id="42" name="Text 3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3" name="Text 3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5156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51333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1018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2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mapa do futuro financeiro</a:t>
            </a:r>
            <a:endParaRPr lang="en-US" sz="2900" dirty="0"/>
          </a:p>
        </p:txBody>
      </p:sp>
      <p:pic>
        <p:nvPicPr>
          <p:cNvPr id="7" name="Image 1" descr="assets/blob-blu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" cy="512064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298" y="1835018"/>
            <a:ext cx="225308" cy="2253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88720" y="163677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Retrovisor, não: mapa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188720" y="198424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de gastos mostram o passado. O Atlas responde: onde estou (Atlas Score, nota 0-100 em 7 pilares), qual o próximo passo e o que muda se eu decidir diferente.</a:t>
            </a:r>
            <a:endParaRPr lang="en-US" sz="1150" dirty="0"/>
          </a:p>
        </p:txBody>
      </p:sp>
      <p:pic>
        <p:nvPicPr>
          <p:cNvPr id="11" name="Image 3" descr="assets/blob-green-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52344"/>
            <a:ext cx="512064" cy="512064"/>
          </a:xfrm>
          <a:prstGeom prst="rect">
            <a:avLst/>
          </a:prstGeom>
        </p:spPr>
      </p:pic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298" y="2895722"/>
            <a:ext cx="225308" cy="22530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188720" y="26974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Método Atlas: 5 relatórios de consultor</a:t>
            </a:r>
            <a:endParaRPr lang="en-US" sz="1450" dirty="0"/>
          </a:p>
        </p:txBody>
      </p:sp>
      <p:sp>
        <p:nvSpPr>
          <p:cNvPr id="14" name="Text 7"/>
          <p:cNvSpPr/>
          <p:nvPr/>
        </p:nvSpPr>
        <p:spPr>
          <a:xfrm>
            <a:off x="1188720" y="3044952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Gerados por IA sobre os dados do usuário, criados a partir do estudo de 300+ planejamentos de famílias reais.</a:t>
            </a:r>
            <a:endParaRPr lang="en-US" sz="1150" dirty="0"/>
          </a:p>
        </p:txBody>
      </p:sp>
      <p:pic>
        <p:nvPicPr>
          <p:cNvPr id="15" name="Image 5" descr="assets/blob-orange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813048"/>
            <a:ext cx="512064" cy="512064"/>
          </a:xfrm>
          <a:prstGeom prst="rect">
            <a:avLst/>
          </a:prstGeom>
        </p:spPr>
      </p:pic>
      <p:pic>
        <p:nvPicPr>
          <p:cNvPr id="1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298" y="3956426"/>
            <a:ext cx="225308" cy="225308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88720" y="37581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Simulador de decisão</a:t>
            </a:r>
            <a:endParaRPr lang="en-US" sz="1450" dirty="0"/>
          </a:p>
        </p:txBody>
      </p:sp>
      <p:sp>
        <p:nvSpPr>
          <p:cNvPr id="18" name="Text 9"/>
          <p:cNvSpPr/>
          <p:nvPr/>
        </p:nvSpPr>
        <p:spPr>
          <a:xfrm>
            <a:off x="1188720" y="4105656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cenários (trocar de carro, comprar imóvel, ter filho...), aposentadoria com 3 caminhos, consórcio × financiamento.</a:t>
            </a:r>
            <a:endParaRPr lang="en-US" sz="1150" dirty="0"/>
          </a:p>
        </p:txBody>
      </p:sp>
      <p:pic>
        <p:nvPicPr>
          <p:cNvPr id="19" name="Image 7" descr="assets/blob-pink-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" y="4873752"/>
            <a:ext cx="512064" cy="512064"/>
          </a:xfrm>
          <a:prstGeom prst="rect">
            <a:avLst/>
          </a:prstGeom>
        </p:spPr>
      </p:pic>
      <p:pic>
        <p:nvPicPr>
          <p:cNvPr id="2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6298" y="5017130"/>
            <a:ext cx="225308" cy="225308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1188720" y="481888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 Negócios (PJ)</a:t>
            </a:r>
            <a:endParaRPr lang="en-US" sz="1450" dirty="0"/>
          </a:p>
        </p:txBody>
      </p:sp>
      <p:sp>
        <p:nvSpPr>
          <p:cNvPr id="22" name="Text 11"/>
          <p:cNvSpPr/>
          <p:nvPr/>
        </p:nvSpPr>
        <p:spPr>
          <a:xfrm>
            <a:off x="1188720" y="51663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lado empresa pra autônomos e MEIs: previsão de caixa, alocação de lucro e score de saúde do negócio.</a:t>
            </a:r>
            <a:endParaRPr lang="en-US" sz="1150" dirty="0"/>
          </a:p>
        </p:txBody>
      </p:sp>
      <p:sp>
        <p:nvSpPr>
          <p:cNvPr id="23" name="Shape 12"/>
          <p:cNvSpPr/>
          <p:nvPr/>
        </p:nvSpPr>
        <p:spPr>
          <a:xfrm>
            <a:off x="7525512" y="1627632"/>
            <a:ext cx="1883664" cy="3941064"/>
          </a:xfrm>
          <a:prstGeom prst="roundRect">
            <a:avLst>
              <a:gd name="adj" fmla="val 4369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4" name="Image 9" descr="assets/atlas-hom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9520" y="1691640"/>
            <a:ext cx="1755648" cy="3813048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9537192" y="1627632"/>
            <a:ext cx="1883664" cy="3941064"/>
          </a:xfrm>
          <a:prstGeom prst="roundRect">
            <a:avLst>
              <a:gd name="adj" fmla="val 4369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27000" dist="38100" dir="5400000">
              <a:srgbClr val="3A3225">
                <a:alpha val="25000"/>
              </a:srgbClr>
            </a:outerShdw>
          </a:effectLst>
        </p:spPr>
      </p:sp>
      <p:pic>
        <p:nvPicPr>
          <p:cNvPr id="26" name="Image 10" descr="assets/atlas-montanh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01200" y="1691640"/>
            <a:ext cx="1755648" cy="3813048"/>
          </a:xfrm>
          <a:prstGeom prst="rect">
            <a:avLst/>
          </a:prstGeom>
        </p:spPr>
      </p:pic>
      <p:sp>
        <p:nvSpPr>
          <p:cNvPr id="27" name="Text 14"/>
          <p:cNvSpPr/>
          <p:nvPr/>
        </p:nvSpPr>
        <p:spPr>
          <a:xfrm>
            <a:off x="7498080" y="565099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reais: home com Atlas Score e a projeção patrimonial ("a montanha")</a:t>
            </a:r>
            <a:endParaRPr lang="en-US" sz="950" dirty="0"/>
          </a:p>
        </p:txBody>
      </p:sp>
      <p:sp>
        <p:nvSpPr>
          <p:cNvPr id="28" name="Text 15"/>
          <p:cNvSpPr/>
          <p:nvPr/>
        </p:nvSpPr>
        <p:spPr>
          <a:xfrm rot="-120000">
            <a:off x="640080" y="5925312"/>
            <a:ext cx="603504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Planos: R$ 15,90 · R$ 24,90 · R$ 32,90 · 7 dias grátis, sem cartão</a:t>
            </a:r>
            <a:endParaRPr lang="en-US" sz="1150" dirty="0"/>
          </a:p>
        </p:txBody>
      </p:sp>
      <p:sp>
        <p:nvSpPr>
          <p:cNvPr id="29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-1143000"/>
            <a:ext cx="2011680" cy="2011680"/>
          </a:xfrm>
          <a:prstGeom prst="rect">
            <a:avLst/>
          </a:prstGeom>
        </p:spPr>
      </p:pic>
      <p:pic>
        <p:nvPicPr>
          <p:cNvPr id="3" name="Image 1" descr="assets/blob-pink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5806440"/>
            <a:ext cx="1371600" cy="13716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TAMANHO DA OPORTUNIDADE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 dois mercados estão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explodindo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45920"/>
            <a:ext cx="1118311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822960" y="18105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Creator economy no Brasil (economia dos criadores de conteúdo)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822960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US$ 5,5 bi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tamanho do mercado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2025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3584448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US$ 33,5 bi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3584448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pra 2034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(cresce ~22% ao ano)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6345936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milhões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6345936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criadores no Brasil,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dobro de um ano antes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107424" y="22860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61%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107424" y="288950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profissionais de marketing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vão investir MAIS em criadores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02920" y="4069080"/>
            <a:ext cx="11183112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22960" y="423367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Finanças pessoais no Brasil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822960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Milhões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822960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brasileiros já usam apps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controle de gastos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3584448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R$ 650</a:t>
            </a:r>
            <a:endParaRPr lang="en-US" sz="2400" dirty="0"/>
          </a:p>
        </p:txBody>
      </p:sp>
      <p:sp>
        <p:nvSpPr>
          <p:cNvPr id="23" name="Text 19"/>
          <p:cNvSpPr/>
          <p:nvPr/>
        </p:nvSpPr>
        <p:spPr>
          <a:xfrm>
            <a:off x="3584448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consulta de um planejador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humano (CFP)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6345936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R$ 2.400/ano</a:t>
            </a:r>
            <a:endParaRPr lang="en-US" sz="2400" dirty="0"/>
          </a:p>
        </p:txBody>
      </p:sp>
      <p:sp>
        <p:nvSpPr>
          <p:cNvPr id="25" name="Text 21"/>
          <p:cNvSpPr/>
          <p:nvPr/>
        </p:nvSpPr>
        <p:spPr>
          <a:xfrm>
            <a:off x="6345936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acompanhamento anual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um profissional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9107424" y="4709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R$ 298/ano</a:t>
            </a:r>
            <a:endParaRPr lang="en-US" sz="2400" dirty="0"/>
          </a:p>
        </p:txBody>
      </p:sp>
      <p:sp>
        <p:nvSpPr>
          <p:cNvPr id="27" name="Text 23"/>
          <p:cNvSpPr/>
          <p:nvPr/>
        </p:nvSpPr>
        <p:spPr>
          <a:xfrm>
            <a:off x="9107424" y="5312664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Atlas Pro fazendo o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estrutural disso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291840" y="64739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Mundo do Marketing / relatórios creator economy 2026 · ANBIMA (custo de planejador financeiro)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-91440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· CRIA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mercado vende picado.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CRIA é o único inteiro.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722376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856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o profissional precisa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206240" y="185623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Como o mercado resolve hoje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224942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Agendar e aprovar posts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06240" y="22494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mLabs: R$ 29,90/mês por marca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22960" y="279806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e relatórios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4206240" y="279806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Metricool ~R$ 49 · Reportei R$ 74,90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334670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(gestão de clientes)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206240" y="33467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Pipedrive ~R$ 80/usuário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22960" y="389534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 do gestor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206240" y="3895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 feita na mão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22960" y="444398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Ideias, roteiro e legenda com IA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206240" y="444398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solto, sem contexto da marca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22960" y="4992624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conversando entre si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4206240" y="49926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integração, na mão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909560" y="1691640"/>
            <a:ext cx="3776472" cy="3977640"/>
          </a:xfrm>
          <a:prstGeom prst="roundRect">
            <a:avLst>
              <a:gd name="adj" fmla="val 339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1" descr="assets/blob-yellow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508760"/>
            <a:ext cx="1051560" cy="1051560"/>
          </a:xfrm>
          <a:prstGeom prst="rect">
            <a:avLst/>
          </a:prstGeom>
        </p:spPr>
      </p:pic>
      <p:pic>
        <p:nvPicPr>
          <p:cNvPr id="24" name="Image 2" descr="assets/logo-cria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0" y="1920240"/>
            <a:ext cx="1234440" cy="6766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229600" y="274320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sistema só, em português:
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post aprovado já entra no relatório, o cliente novo já entra no financeiro, a IA já conhece a marca.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8229600" y="42062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R$ 74,70</a:t>
            </a:r>
            <a:endParaRPr lang="en-US" sz="2800" dirty="0"/>
          </a:p>
        </p:txBody>
      </p:sp>
      <p:sp>
        <p:nvSpPr>
          <p:cNvPr id="27" name="Text 22"/>
          <p:cNvSpPr/>
          <p:nvPr/>
        </p:nvSpPr>
        <p:spPr>
          <a:xfrm>
            <a:off x="8229600" y="480060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combo do gestor, contra R$ 200+ do quebra-cabeça atual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02920" y="5870448"/>
            <a:ext cx="11183112" cy="621792"/>
          </a:xfrm>
          <a:prstGeom prst="roundRect">
            <a:avLst>
              <a:gd name="adj" fmla="val 20588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868680" y="59436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mercado se divide em agendadores e ferramentas de gestão. </a:t>
            </a:r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 junta o ciclo criativo + CRM + financeiro + IA no tom da marca. É essa junção que o CRIA fecha, e é difícil de copiar.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25880" y="544068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· ATLAS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804672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Todo mundo olha o passado. </a:t>
            </a:r>
            <a:pPr indent="0" marL="0">
              <a:buNone/>
            </a:pPr>
            <a:r>
              <a:rPr lang="en-US" sz="25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Atlas projeta o futuro.</a:t>
            </a:r>
            <a:endParaRPr lang="en-US" sz="25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783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Mobills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939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R$ 19,90/mês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246120" y="17647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gastos e cartões. Retrovisor.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02920" y="26060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6974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Organizze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22960" y="3008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R$ 16,90/mês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246120" y="26791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Lançamentos e orçamento do mês. Retrovisor.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35204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Encaixei e similares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39227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R$ 9,90/mês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246120" y="35935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simples do mês. Retrovisor.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44348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" y="4526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YNAB (EUA)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22960" y="48371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US$ 15/mês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46120" y="45079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Orçamento, em inglês e dólar. Sem Brasil.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49240"/>
            <a:ext cx="5943600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22960" y="5440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Planejador humano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57515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R$ 2.400/ano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246120" y="5422392"/>
            <a:ext cx="3017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plano de verdade, mas não escala e é caro.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675120" y="1691640"/>
            <a:ext cx="5010912" cy="4526280"/>
          </a:xfrm>
          <a:prstGeom prst="roundRect">
            <a:avLst>
              <a:gd name="adj" fmla="val 2828"/>
            </a:avLst>
          </a:prstGeom>
          <a:solidFill>
            <a:srgbClr val="2A4BD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1" descr="assets/logo-atlas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01952"/>
            <a:ext cx="1234440" cy="1106424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0408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Único no Brasil que entrega:</a:t>
            </a:r>
            <a:endParaRPr lang="en-US" sz="1400" dirty="0"/>
          </a:p>
        </p:txBody>
      </p:sp>
      <p:sp>
        <p:nvSpPr>
          <p:cNvPr id="30" name="Text 26"/>
          <p:cNvSpPr/>
          <p:nvPr/>
        </p:nvSpPr>
        <p:spPr>
          <a:xfrm>
            <a:off x="7040880" y="35661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Projeção do patrimônio até o fim da vida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Simulador de decisões (8 cenários reais)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relatórios de consultor gerados por IA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Aposentadoria com 3 caminhos calculados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Lado PJ pra autônomos (Atlas Negócios)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7040880" y="55778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R$ 24,90/mês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(12× mais barato que o humano)</a:t>
            </a:r>
            <a:endParaRPr lang="en-US" sz="1700" dirty="0"/>
          </a:p>
        </p:txBody>
      </p:sp>
      <p:sp>
        <p:nvSpPr>
          <p:cNvPr id="32" name="Text 28"/>
          <p:cNvSpPr/>
          <p:nvPr/>
        </p:nvSpPr>
        <p:spPr>
          <a:xfrm>
            <a:off x="502920" y="63550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sites e comparativos públicos dos apps (2026) · ANBIMA</a:t>
            </a:r>
            <a:endParaRPr lang="en-US" sz="900" dirty="0"/>
          </a:p>
        </p:txBody>
      </p:sp>
      <p:pic>
        <p:nvPicPr>
          <p:cNvPr id="33" name="Image 2" descr="assets/st-mochil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09960" y="1371600"/>
            <a:ext cx="868680" cy="944217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4300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4061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DE QUE O MERCADO PAGA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Quantos já pagam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um pedaço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disso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9848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mLabs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69848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685800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145 mil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685800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e agências</a:t>
            </a:r>
            <a:endParaRPr lang="en-US" sz="980" dirty="0"/>
          </a:p>
        </p:txBody>
      </p:sp>
      <p:sp>
        <p:nvSpPr>
          <p:cNvPr id="13" name="Text 9"/>
          <p:cNvSpPr/>
          <p:nvPr/>
        </p:nvSpPr>
        <p:spPr>
          <a:xfrm>
            <a:off x="685800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agenda e aprova posts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2761488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2" descr="assets/blob-blue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4368" y="1901952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328416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Metricool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3328416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2944368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milhões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2944368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usuários · US$ 15 mi/ano, vendida por €100 mi+</a:t>
            </a:r>
            <a:endParaRPr lang="en-US" sz="980" dirty="0"/>
          </a:p>
        </p:txBody>
      </p:sp>
      <p:sp>
        <p:nvSpPr>
          <p:cNvPr id="20" name="Text 15"/>
          <p:cNvSpPr/>
          <p:nvPr/>
        </p:nvSpPr>
        <p:spPr>
          <a:xfrm>
            <a:off x="2944368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métricas e agendamento</a:t>
            </a:r>
            <a:endParaRPr lang="en-US" sz="980" dirty="0"/>
          </a:p>
        </p:txBody>
      </p:sp>
      <p:sp>
        <p:nvSpPr>
          <p:cNvPr id="21" name="Shape 16"/>
          <p:cNvSpPr/>
          <p:nvPr/>
        </p:nvSpPr>
        <p:spPr>
          <a:xfrm>
            <a:off x="5020056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3" descr="assets/blob-pink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1901952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586984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Reportei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5586984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5202936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 mil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5202936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em 50 países</a:t>
            </a:r>
            <a:endParaRPr lang="en-US" sz="980" dirty="0"/>
          </a:p>
        </p:txBody>
      </p:sp>
      <p:sp>
        <p:nvSpPr>
          <p:cNvPr id="27" name="Text 21"/>
          <p:cNvSpPr/>
          <p:nvPr/>
        </p:nvSpPr>
        <p:spPr>
          <a:xfrm>
            <a:off x="5202936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relatórios</a:t>
            </a:r>
            <a:endParaRPr lang="en-US" sz="980" dirty="0"/>
          </a:p>
        </p:txBody>
      </p:sp>
      <p:sp>
        <p:nvSpPr>
          <p:cNvPr id="28" name="Shape 22"/>
          <p:cNvSpPr/>
          <p:nvPr/>
        </p:nvSpPr>
        <p:spPr>
          <a:xfrm>
            <a:off x="7278624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61504" y="1901952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45552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Pipedrive</a:t>
            </a:r>
            <a:endParaRPr lang="en-US" sz="1350" dirty="0"/>
          </a:p>
        </p:txBody>
      </p:sp>
      <p:sp>
        <p:nvSpPr>
          <p:cNvPr id="31" name="Text 24"/>
          <p:cNvSpPr/>
          <p:nvPr/>
        </p:nvSpPr>
        <p:spPr>
          <a:xfrm>
            <a:off x="7845552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7461504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100 mil</a:t>
            </a:r>
            <a:endParaRPr lang="en-US" sz="2400" dirty="0"/>
          </a:p>
        </p:txBody>
      </p:sp>
      <p:sp>
        <p:nvSpPr>
          <p:cNvPr id="33" name="Text 26"/>
          <p:cNvSpPr/>
          <p:nvPr/>
        </p:nvSpPr>
        <p:spPr>
          <a:xfrm>
            <a:off x="7461504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pagantes</a:t>
            </a:r>
            <a:endParaRPr lang="en-US" sz="980" dirty="0"/>
          </a:p>
        </p:txBody>
      </p:sp>
      <p:sp>
        <p:nvSpPr>
          <p:cNvPr id="34" name="Text 27"/>
          <p:cNvSpPr/>
          <p:nvPr/>
        </p:nvSpPr>
        <p:spPr>
          <a:xfrm>
            <a:off x="7461504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faz CRM (gestão de clientes)</a:t>
            </a:r>
            <a:endParaRPr lang="en-US" sz="980" dirty="0"/>
          </a:p>
        </p:txBody>
      </p:sp>
      <p:sp>
        <p:nvSpPr>
          <p:cNvPr id="35" name="Shape 28"/>
          <p:cNvSpPr/>
          <p:nvPr/>
        </p:nvSpPr>
        <p:spPr>
          <a:xfrm>
            <a:off x="9537192" y="1691640"/>
            <a:ext cx="2148840" cy="301752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6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0072" y="1901952"/>
            <a:ext cx="274320" cy="274320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10104120" y="186537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Mobills</a:t>
            </a:r>
            <a:endParaRPr lang="en-US" sz="1350" dirty="0"/>
          </a:p>
        </p:txBody>
      </p:sp>
      <p:sp>
        <p:nvSpPr>
          <p:cNvPr id="38" name="Text 30"/>
          <p:cNvSpPr/>
          <p:nvPr/>
        </p:nvSpPr>
        <p:spPr>
          <a:xfrm>
            <a:off x="10104120" y="215798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9720072" y="25146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 mi+</a:t>
            </a:r>
            <a:endParaRPr lang="en-US" sz="2400" dirty="0"/>
          </a:p>
        </p:txBody>
      </p:sp>
      <p:sp>
        <p:nvSpPr>
          <p:cNvPr id="40" name="Text 32"/>
          <p:cNvSpPr/>
          <p:nvPr/>
        </p:nvSpPr>
        <p:spPr>
          <a:xfrm>
            <a:off x="9720072" y="310896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downloads</a:t>
            </a:r>
            <a:endParaRPr lang="en-US" sz="980" dirty="0"/>
          </a:p>
        </p:txBody>
      </p:sp>
      <p:sp>
        <p:nvSpPr>
          <p:cNvPr id="41" name="Text 33"/>
          <p:cNvSpPr/>
          <p:nvPr/>
        </p:nvSpPr>
        <p:spPr>
          <a:xfrm>
            <a:off x="9720072" y="397764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só olha o gasto passado (retrovisor)</a:t>
            </a:r>
            <a:endParaRPr lang="en-US" sz="980" dirty="0"/>
          </a:p>
        </p:txBody>
      </p:sp>
      <p:sp>
        <p:nvSpPr>
          <p:cNvPr id="42" name="Shape 34"/>
          <p:cNvSpPr/>
          <p:nvPr/>
        </p:nvSpPr>
        <p:spPr>
          <a:xfrm>
            <a:off x="502920" y="4983480"/>
            <a:ext cx="11183112" cy="960120"/>
          </a:xfrm>
          <a:prstGeom prst="roundRect">
            <a:avLst>
              <a:gd name="adj" fmla="val 1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43" name="Text 35"/>
          <p:cNvSpPr/>
          <p:nvPr/>
        </p:nvSpPr>
        <p:spPr>
          <a:xfrm>
            <a:off x="868680" y="5120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uma dessas empresas construiu um negócio grande vendendo UM pedaço da solução. 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e Atlas entregam o pacote inteiro, em português, por menos. E a nossa meta de 1.000 assinantes é só 0,7% da base da mLabs sozinha.</a:t>
            </a:r>
            <a:endParaRPr lang="en-US" sz="1300" dirty="0"/>
          </a:p>
        </p:txBody>
      </p:sp>
      <p:sp>
        <p:nvSpPr>
          <p:cNvPr id="44" name="Text 36"/>
          <p:cNvSpPr/>
          <p:nvPr/>
        </p:nvSpPr>
        <p:spPr>
          <a:xfrm>
            <a:off x="502920" y="605332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Fontes: mLabs (site oficial) · Metricool/team.blue (Minimum) · Reportei/ABRAMARK · Pipedrive (site oficial) · Mobills (blog oficial, downloads 2020)</a:t>
            </a:r>
            <a:endParaRPr lang="en-US" sz="850" dirty="0"/>
          </a:p>
        </p:txBody>
      </p:sp>
      <p:sp>
        <p:nvSpPr>
          <p:cNvPr id="45" name="Text 37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2840" y="-96012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yellow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88720" y="5577840"/>
            <a:ext cx="1737360" cy="1737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78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agora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é a hora certa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69164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blu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965960"/>
            <a:ext cx="585216" cy="585216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388" y="2129820"/>
            <a:ext cx="257495" cy="257495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554480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IA barateou o premium</a:t>
            </a:r>
            <a:endParaRPr lang="en-US" sz="1550" dirty="0"/>
          </a:p>
        </p:txBody>
      </p:sp>
      <p:sp>
        <p:nvSpPr>
          <p:cNvPr id="12" name="Text 6"/>
          <p:cNvSpPr/>
          <p:nvPr/>
        </p:nvSpPr>
        <p:spPr>
          <a:xfrm>
            <a:off x="795528" y="269748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um 'consultor' ou um 'estrategista de conteúdo' automatizado custava uma equipe. Hoje custa centavos por usuário, e nós dois já construímos isso.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6199632" y="169164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965960"/>
            <a:ext cx="585216" cy="585216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6100" y="2129820"/>
            <a:ext cx="257495" cy="257495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7251192" y="200253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 dois mercados em disparada</a:t>
            </a:r>
            <a:endParaRPr lang="en-US" sz="1550" dirty="0"/>
          </a:p>
        </p:txBody>
      </p:sp>
      <p:sp>
        <p:nvSpPr>
          <p:cNvPr id="17" name="Text 9"/>
          <p:cNvSpPr/>
          <p:nvPr/>
        </p:nvSpPr>
        <p:spPr>
          <a:xfrm>
            <a:off x="6492240" y="269748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economy crescendo ~22% ao ano no Brasil; educação financeira virou pauta nacional. A demanda existe e cresce sozinha.</a:t>
            </a:r>
            <a:endParaRPr lang="en-US" sz="1250" dirty="0"/>
          </a:p>
        </p:txBody>
      </p:sp>
      <p:sp>
        <p:nvSpPr>
          <p:cNvPr id="18" name="Shape 10"/>
          <p:cNvSpPr/>
          <p:nvPr/>
        </p:nvSpPr>
        <p:spPr>
          <a:xfrm>
            <a:off x="502920" y="406908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6" descr="assets/blob-orang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" y="4343400"/>
            <a:ext cx="585216" cy="585216"/>
          </a:xfrm>
          <a:prstGeom prst="rect">
            <a:avLst/>
          </a:prstGeom>
        </p:spPr>
      </p:pic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388" y="4507260"/>
            <a:ext cx="257495" cy="257495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1554480" y="43799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Canal novo, barato e vazio</a:t>
            </a:r>
            <a:endParaRPr lang="en-US" sz="1550" dirty="0"/>
          </a:p>
        </p:txBody>
      </p:sp>
      <p:sp>
        <p:nvSpPr>
          <p:cNvPr id="22" name="Text 12"/>
          <p:cNvSpPr/>
          <p:nvPr/>
        </p:nvSpPr>
        <p:spPr>
          <a:xfrm>
            <a:off x="795528" y="507492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ChatGPT Ads chegou ao Brasil em 2026 com pouquíssima concorrência de anúncio. Quem entra cedo paga menos por cliente (menor CAC).</a:t>
            </a:r>
            <a:endParaRPr lang="en-US" sz="1250" dirty="0"/>
          </a:p>
        </p:txBody>
      </p:sp>
      <p:sp>
        <p:nvSpPr>
          <p:cNvPr id="23" name="Shape 13"/>
          <p:cNvSpPr/>
          <p:nvPr/>
        </p:nvSpPr>
        <p:spPr>
          <a:xfrm>
            <a:off x="6199632" y="4069080"/>
            <a:ext cx="548640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8" descr="assets/blob-pink-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240" y="4343400"/>
            <a:ext cx="585216" cy="585216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6100" y="4507260"/>
            <a:ext cx="257495" cy="257495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7251192" y="43799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janela está aberta</a:t>
            </a:r>
            <a:endParaRPr lang="en-US" sz="1550" dirty="0"/>
          </a:p>
        </p:txBody>
      </p:sp>
      <p:sp>
        <p:nvSpPr>
          <p:cNvPr id="27" name="Text 15"/>
          <p:cNvSpPr/>
          <p:nvPr/>
        </p:nvSpPr>
        <p:spPr>
          <a:xfrm>
            <a:off x="6492240" y="5074920"/>
            <a:ext cx="4901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grande juntou as pontas ainda, nem no conteúdo, nem nas finanças. Quem consolidar primeiro vira o padrão do mercado.</a:t>
            </a:r>
            <a:endParaRPr lang="en-US" sz="1250" dirty="0"/>
          </a:p>
        </p:txBody>
      </p:sp>
      <p:sp>
        <p:nvSpPr>
          <p:cNvPr id="28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67004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O PLANO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estratégia: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fases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em 12 meses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38528"/>
            <a:ext cx="548640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490472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Fundação e marca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490472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1-2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7240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gastar R$ 1 em anúncio: perfis fortes, criativos e vídeos do produto, depoimentos reais de usuários, medição instalada (pixel) e marcas registradas no INPI. Anúncio sem base queima dinheiro.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114800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4288536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2" descr="assets/blob-green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856" y="1938528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425696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5276088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Aquisição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5276088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2-6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4562856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máquina liga: tráfego pago (Meta + ChatGPT Ads), UGC com criadores de nicho, parcerias com quem já fala com o nosso público. Testar criativo, medir custo por assinante, desligar o que não converte. Meta: 1.000 assinantes.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7900416" y="324612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8074152" y="1691640"/>
            <a:ext cx="3611880" cy="3749040"/>
          </a:xfrm>
          <a:prstGeom prst="roundRect">
            <a:avLst>
              <a:gd name="adj" fmla="val 3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3" descr="assets/blob-blu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472" y="1938528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11312" y="193852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900" dirty="0"/>
          </a:p>
        </p:txBody>
      </p:sp>
      <p:sp>
        <p:nvSpPr>
          <p:cNvPr id="24" name="Text 18"/>
          <p:cNvSpPr/>
          <p:nvPr/>
        </p:nvSpPr>
        <p:spPr>
          <a:xfrm>
            <a:off x="9061704" y="195681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Escala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9061704" y="2359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meses 6-12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348472" y="278892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Dobrar a aposta só no que provou funcionar: mais verba nos criativos vencedores, equipe entra (dev + atendimento) paga pela própria receita, e o Atlas passa a receber mais atenção e verba.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502920" y="571500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868680" y="583387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jogo: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fase só acelera quando a anterior prova que funciona. Nada de queimar verba no escuro.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09728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09067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A SEQUÊNCIA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 primeiro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e Atlas em seguida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737360"/>
            <a:ext cx="8385048" cy="566928"/>
          </a:xfrm>
          <a:prstGeom prst="roundRect">
            <a:avLst>
              <a:gd name="adj" fmla="val 45161"/>
            </a:avLst>
          </a:prstGeom>
          <a:solidFill>
            <a:srgbClr val="CE4A1D"/>
          </a:solidFill>
          <a:ln/>
        </p:spPr>
      </p:sp>
      <p:sp>
        <p:nvSpPr>
          <p:cNvPr id="8" name="Shape 5"/>
          <p:cNvSpPr/>
          <p:nvPr/>
        </p:nvSpPr>
        <p:spPr>
          <a:xfrm>
            <a:off x="8942832" y="1737360"/>
            <a:ext cx="2743200" cy="566928"/>
          </a:xfrm>
          <a:prstGeom prst="roundRect">
            <a:avLst>
              <a:gd name="adj" fmla="val 45161"/>
            </a:avLst>
          </a:prstGeom>
          <a:solidFill>
            <a:srgbClr val="2A4BDF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1783080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75% do esforço e da verba: CRIA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189720" y="178308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25%: Atlas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2606040"/>
            <a:ext cx="548640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2296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CRIA: o motor de arranque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32918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públicos pagantes no mesmo sistema (criador + social media)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dor é aguda e consciente: quem sofre já paga 4 ferramentas hoje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 maior e módulos que somam (combo R$ 74,70)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Concorrência fraca no "tudo-em-um": janela aberta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99632" y="2606040"/>
            <a:ext cx="548640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19672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Atlas: em ritmo de validação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19672" y="32918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com verba menor, testando criativos e canais sem pressa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Aproveita o manual do CRIA: mesma esteira de criativo e tráfego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Anunciar finanças é mais disputado (caro): entrar refinado economiza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✓"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o CRIA se pagar, o Atlas recebe o foco com a máquina pronta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02920" y="571500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68680" y="5833872"/>
            <a:ext cx="10424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 1: o CRIA consolida e passa a pagar a operação. Ano 2: o foco extra vira pro Atlas. </a:t>
            </a:r>
            <a:pPr indent="0" marL="0">
              <a:buNone/>
            </a:pPr>
            <a:r>
              <a:rPr lang="en-US" sz="13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financia a rampa do outro, sem dividir o tiro no início.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-822960"/>
            <a:ext cx="1645920" cy="16459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77520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363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AS ARMAS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UGC: 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anúncio que não parece anúncio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3664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037283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é UGC?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777240" y="250545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Sigla de "user generated content": conteúdo no estilo de quem usa. Um criador comum grava mostrando como usa o CRIA no dia a dia dele, com cara de vídeo de celular, não de comercial.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1883664"/>
            <a:ext cx="548640" cy="54864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71" y="2037283"/>
            <a:ext cx="241402" cy="24140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05472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funciona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473952" y="250545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 recomendação de amigo, não propaganda. Gera confiança, e os melhores vídeos viram anúncio pago: quando o criativo é bom, o custo por assinante (CAC) despenca.</a:t>
            </a:r>
            <a:endParaRPr lang="en-US" sz="1150" dirty="0"/>
          </a:p>
        </p:txBody>
      </p:sp>
      <p:sp>
        <p:nvSpPr>
          <p:cNvPr id="17" name="Shape 10"/>
          <p:cNvSpPr/>
          <p:nvPr/>
        </p:nvSpPr>
        <p:spPr>
          <a:xfrm>
            <a:off x="502920" y="384048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blue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078224"/>
            <a:ext cx="548640" cy="54864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859" y="4231843"/>
            <a:ext cx="241402" cy="241402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508760" y="4114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vamos encomendar</a:t>
            </a:r>
            <a:endParaRPr lang="en-US" sz="1500" dirty="0"/>
          </a:p>
        </p:txBody>
      </p:sp>
      <p:sp>
        <p:nvSpPr>
          <p:cNvPr id="21" name="Text 12"/>
          <p:cNvSpPr/>
          <p:nvPr/>
        </p:nvSpPr>
        <p:spPr>
          <a:xfrm>
            <a:off x="777240" y="47000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"Minha rotina de planejar a semana no CRIA" · social media mostrando o cliente aprovando pelo link · "quanto tempo eu economizei" · antes/depois da organização.</a:t>
            </a:r>
            <a:endParaRPr lang="en-US" sz="1150" dirty="0"/>
          </a:p>
        </p:txBody>
      </p:sp>
      <p:sp>
        <p:nvSpPr>
          <p:cNvPr id="22" name="Shape 13"/>
          <p:cNvSpPr/>
          <p:nvPr/>
        </p:nvSpPr>
        <p:spPr>
          <a:xfrm>
            <a:off x="6199632" y="3840480"/>
            <a:ext cx="548640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green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3952" y="4078224"/>
            <a:ext cx="548640" cy="54864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7571" y="4231843"/>
            <a:ext cx="241402" cy="241402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7205472" y="41148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criadores de nicho</a:t>
            </a:r>
            <a:endParaRPr lang="en-US" sz="1500" dirty="0"/>
          </a:p>
        </p:txBody>
      </p:sp>
      <p:sp>
        <p:nvSpPr>
          <p:cNvPr id="26" name="Text 15"/>
          <p:cNvSpPr/>
          <p:nvPr/>
        </p:nvSpPr>
        <p:spPr>
          <a:xfrm>
            <a:off x="6473952" y="47000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cria conteúdo segue quem cria conteúdo. Um criador do fitness, da estética ou da gastronomia mostrando o CRIA fala direto com criadores e social medias daquele nicho, que são exatamente quem paga a assinatura.</a:t>
            </a:r>
            <a:endParaRPr lang="en-US" sz="1150" dirty="0"/>
          </a:p>
        </p:txBody>
      </p:sp>
      <p:sp>
        <p:nvSpPr>
          <p:cNvPr id="27" name="Shape 16"/>
          <p:cNvSpPr/>
          <p:nvPr/>
        </p:nvSpPr>
        <p:spPr>
          <a:xfrm>
            <a:off x="502920" y="5961888"/>
            <a:ext cx="11183112" cy="475488"/>
          </a:xfrm>
          <a:prstGeom prst="roundRect">
            <a:avLst>
              <a:gd name="adj" fmla="val 2692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17"/>
          <p:cNvSpPr/>
          <p:nvPr/>
        </p:nvSpPr>
        <p:spPr>
          <a:xfrm>
            <a:off x="868680" y="6016752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públis/mês (R$ 450 a R$ 1.250 cada),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cada uma vira material de anúncio também: paga uma vez, roda o mês inteiro.</a:t>
            </a:r>
            <a:endParaRPr lang="en-US" sz="1200" dirty="0"/>
          </a:p>
        </p:txBody>
      </p:sp>
      <p:sp>
        <p:nvSpPr>
          <p:cNvPr id="29" name="Text 1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60120"/>
            <a:ext cx="192024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35254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941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CAPÍTULO 2 · O BARULHO DO LANÇAMENTO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Já estamos mapeando </a:t>
            </a:r>
            <a:pPr indent="0" marL="0">
              <a:buNone/>
            </a:pPr>
            <a:r>
              <a:rPr lang="en-US" sz="2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quem vai falar de nós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457200" cy="45720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39112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0759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Social medias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4066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profissionais que gerenciam clientes e vivem a dor todo dia. São público e divulgadoras ao mesmo tempo.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429768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1911096"/>
            <a:ext cx="457200" cy="45720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2039112"/>
            <a:ext cx="201168" cy="20116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0235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Estética e saúde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453542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nicho que mais contrata social media no Brasil. Cada clínica é um cliente do nosso cliente.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092440" y="1691640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0184" y="1911096"/>
            <a:ext cx="457200" cy="45720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0" y="2039112"/>
            <a:ext cx="201168" cy="201168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897112" y="1929384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Gastronomia e local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8330184" y="2404872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Restaurantes, cafés e negócios de bairro: volume enorme e conteúdo diário.</a:t>
            </a:r>
            <a:endParaRPr lang="en-US" sz="1050" dirty="0"/>
          </a:p>
        </p:txBody>
      </p:sp>
      <p:sp>
        <p:nvSpPr>
          <p:cNvPr id="22" name="Shape 13"/>
          <p:cNvSpPr/>
          <p:nvPr/>
        </p:nvSpPr>
        <p:spPr>
          <a:xfrm>
            <a:off x="50292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blue-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" y="3666744"/>
            <a:ext cx="457200" cy="45720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3794760"/>
            <a:ext cx="201168" cy="201168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30759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Fitness e bem-estar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74066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trainers e estúdios criam conteúdo pesado e precisam de constância.</a:t>
            </a:r>
            <a:endParaRPr lang="en-US" sz="1050" dirty="0"/>
          </a:p>
        </p:txBody>
      </p:sp>
      <p:sp>
        <p:nvSpPr>
          <p:cNvPr id="27" name="Shape 16"/>
          <p:cNvSpPr/>
          <p:nvPr/>
        </p:nvSpPr>
        <p:spPr>
          <a:xfrm>
            <a:off x="429768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9" descr="assets/blob-pink-0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35424" y="3666744"/>
            <a:ext cx="457200" cy="457200"/>
          </a:xfrm>
          <a:prstGeom prst="rect">
            <a:avLst/>
          </a:prstGeom>
        </p:spPr>
      </p:pic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63440" y="3794760"/>
            <a:ext cx="201168" cy="201168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0235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Educação e infoprodutos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453542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vive de audiência e publica todo dia: usa o estúdio inteiro do CRIA.</a:t>
            </a:r>
            <a:endParaRPr lang="en-US" sz="1050" dirty="0"/>
          </a:p>
        </p:txBody>
      </p:sp>
      <p:sp>
        <p:nvSpPr>
          <p:cNvPr id="32" name="Shape 19"/>
          <p:cNvSpPr/>
          <p:nvPr/>
        </p:nvSpPr>
        <p:spPr>
          <a:xfrm>
            <a:off x="8092440" y="3447288"/>
            <a:ext cx="359359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3" name="Image 11" descr="assets/blob-green-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30184" y="3666744"/>
            <a:ext cx="457200" cy="457200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8200" y="3794760"/>
            <a:ext cx="201168" cy="201168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897112" y="3685032"/>
            <a:ext cx="2587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Finanças e negócios</a:t>
            </a:r>
            <a:endParaRPr lang="en-US" sz="1300" dirty="0"/>
          </a:p>
        </p:txBody>
      </p:sp>
      <p:sp>
        <p:nvSpPr>
          <p:cNvPr id="36" name="Text 21"/>
          <p:cNvSpPr/>
          <p:nvPr/>
        </p:nvSpPr>
        <p:spPr>
          <a:xfrm>
            <a:off x="8330184" y="4160520"/>
            <a:ext cx="3118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porta natural do Atlas: quem fala de dinheiro atrai quem quer organizar o dinheiro.</a:t>
            </a:r>
            <a:endParaRPr lang="en-US" sz="1050" dirty="0"/>
          </a:p>
        </p:txBody>
      </p:sp>
      <p:sp>
        <p:nvSpPr>
          <p:cNvPr id="37" name="Shape 22"/>
          <p:cNvSpPr/>
          <p:nvPr/>
        </p:nvSpPr>
        <p:spPr>
          <a:xfrm>
            <a:off x="502920" y="5074920"/>
            <a:ext cx="11183112" cy="1325880"/>
          </a:xfrm>
          <a:prstGeom prst="roundRect">
            <a:avLst>
              <a:gd name="adj" fmla="val 9655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3"/>
          <p:cNvSpPr/>
          <p:nvPr/>
        </p:nvSpPr>
        <p:spPr>
          <a:xfrm>
            <a:off x="868680" y="5230368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já está em andamento: </a:t>
            </a:r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levantamento de social medias, criadores UGC e influenciadores por nicho, com o preço médio que cada um cobra. A ideia não é uma publi solta: é fazer barulho em vários nichos ao mesmo tempo na semana do lançamento, pra que quem for impactado pelo anúncio já tenha visto alguém de confiança falando do CRIA.</a:t>
            </a:r>
            <a:endParaRPr lang="en-US" sz="1250" dirty="0"/>
          </a:p>
        </p:txBody>
      </p:sp>
      <p:sp>
        <p:nvSpPr>
          <p:cNvPr id="39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st-lamp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228600"/>
            <a:ext cx="1188720" cy="1188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DOS NÚMEROS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Economês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traduzido</a:t>
            </a:r>
            <a:pPr indent="0" marL="0">
              <a:buNone/>
            </a:pPr>
            <a:r>
              <a:rPr lang="en-US" sz="2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(os 6 termos que vamos usar)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93392"/>
            <a:ext cx="310896" cy="3108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médio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5895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um assinante paga por mês, na média. Aqui: ~R$ 31 (mistura de CRIA e Atlas).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9768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2" name="Image 2" descr="assets/blob-blue-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424" y="1993392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98348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MRR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455371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"Receita recorrente mensal": a soma das mensalidades que caem todo mês. É o "aluguel" que o negócio recebe.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09244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6" name="Image 3" descr="assets/blob-green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184" y="1993392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778240" y="1956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CAC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8348472" y="2487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"Custo de aquisição de cliente": quanto gastamos de marketing pra conquistar 1 assinante pagante.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0292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4" descr="assets/blob-pink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4279392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8872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Churn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75895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Percentual de assinantes que cancela por mês. Usamos de 4% a 7% nas contas, padrão do setor.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29768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5" descr="assets/blob-yellow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424" y="4279392"/>
            <a:ext cx="310896" cy="31089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98348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LTV</a:t>
            </a:r>
            <a:endParaRPr lang="en-US" sz="1600" dirty="0"/>
          </a:p>
        </p:txBody>
      </p:sp>
      <p:sp>
        <p:nvSpPr>
          <p:cNvPr id="26" name="Text 18"/>
          <p:cNvSpPr/>
          <p:nvPr/>
        </p:nvSpPr>
        <p:spPr>
          <a:xfrm>
            <a:off x="455371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"Valor do tempo de vida": tudo que 1 assinante paga, somado, do dia que entra até cancelar.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809244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6" descr="assets/blob-orang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0184" y="4279392"/>
            <a:ext cx="310896" cy="310896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778240" y="4242816"/>
            <a:ext cx="2679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Valuation</a:t>
            </a:r>
            <a:endParaRPr lang="en-US" sz="1600" dirty="0"/>
          </a:p>
        </p:txBody>
      </p:sp>
      <p:sp>
        <p:nvSpPr>
          <p:cNvPr id="30" name="Text 21"/>
          <p:cNvSpPr/>
          <p:nvPr/>
        </p:nvSpPr>
        <p:spPr>
          <a:xfrm>
            <a:off x="8348472" y="4773168"/>
            <a:ext cx="308152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o negócio inteiro vale numa negociação. Define quanto cada % de participação custa.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2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-822960"/>
            <a:ext cx="1554480" cy="15544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EXECUÇÃO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máquina de crescimento: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R$ 18,9 mil/mês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01368"/>
            <a:ext cx="530352" cy="53035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731" y="1949867"/>
            <a:ext cx="233355" cy="2333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417320" y="17465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Tráfego pago (anúncios)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1417320" y="20756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no CRIA, 25% no Atlas. O CRIA escala primeiro; o Atlas entra no vácuo.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6309360" y="1746504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R$ 10.000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02920" y="2532888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3" descr="assets/blob-pink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2642616"/>
            <a:ext cx="530352" cy="530352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731" y="2791115"/>
            <a:ext cx="233355" cy="23335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417320" y="25877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UGC e influenciadores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1417320" y="29169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publicações/mês (R$ 450 a R$ 1.250 cada): criadores mostrando o CRIA em uso real.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6309360" y="2587752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R$ 3.400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502920" y="3374136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483864"/>
            <a:ext cx="530352" cy="530352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731" y="3632363"/>
            <a:ext cx="233355" cy="23335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417320" y="3429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Parcerias</a:t>
            </a:r>
            <a:endParaRPr lang="en-US" sz="1300" dirty="0"/>
          </a:p>
        </p:txBody>
      </p:sp>
      <p:sp>
        <p:nvSpPr>
          <p:cNvPr id="23" name="Text 14"/>
          <p:cNvSpPr/>
          <p:nvPr/>
        </p:nvSpPr>
        <p:spPr>
          <a:xfrm>
            <a:off x="1417320" y="37581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Comissões e acordos com quem já fala com o nosso público.</a:t>
            </a:r>
            <a:endParaRPr lang="en-US" sz="1000" dirty="0"/>
          </a:p>
        </p:txBody>
      </p:sp>
      <p:sp>
        <p:nvSpPr>
          <p:cNvPr id="24" name="Text 15"/>
          <p:cNvSpPr/>
          <p:nvPr/>
        </p:nvSpPr>
        <p:spPr>
          <a:xfrm>
            <a:off x="6309360" y="342900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R$ 2.500</a:t>
            </a:r>
            <a:endParaRPr lang="en-US" sz="1600" dirty="0"/>
          </a:p>
        </p:txBody>
      </p:sp>
      <p:sp>
        <p:nvSpPr>
          <p:cNvPr id="25" name="Shape 16"/>
          <p:cNvSpPr/>
          <p:nvPr/>
        </p:nvSpPr>
        <p:spPr>
          <a:xfrm>
            <a:off x="502920" y="4215384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6" name="Image 7" descr="assets/blob-blue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" y="4325112"/>
            <a:ext cx="530352" cy="530352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1731" y="4473611"/>
            <a:ext cx="233355" cy="23335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1417320" y="427024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Videomaker + motion</a:t>
            </a:r>
            <a:endParaRPr lang="en-US" sz="1300" dirty="0"/>
          </a:p>
        </p:txBody>
      </p:sp>
      <p:sp>
        <p:nvSpPr>
          <p:cNvPr id="29" name="Text 18"/>
          <p:cNvSpPr/>
          <p:nvPr/>
        </p:nvSpPr>
        <p:spPr>
          <a:xfrm>
            <a:off x="1417320" y="45994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Animações e vídeos dos anúncios (2-3 vídeos/mês por perfil, ~R$ 300 a edição).</a:t>
            </a:r>
            <a:endParaRPr lang="en-US" sz="1000" dirty="0"/>
          </a:p>
        </p:txBody>
      </p:sp>
      <p:sp>
        <p:nvSpPr>
          <p:cNvPr id="30" name="Text 19"/>
          <p:cNvSpPr/>
          <p:nvPr/>
        </p:nvSpPr>
        <p:spPr>
          <a:xfrm>
            <a:off x="6309360" y="4270248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R$ 2.000</a:t>
            </a:r>
            <a:endParaRPr lang="en-US" sz="1600" dirty="0"/>
          </a:p>
        </p:txBody>
      </p:sp>
      <p:sp>
        <p:nvSpPr>
          <p:cNvPr id="31" name="Shape 20"/>
          <p:cNvSpPr/>
          <p:nvPr/>
        </p:nvSpPr>
        <p:spPr>
          <a:xfrm>
            <a:off x="502920" y="5056632"/>
            <a:ext cx="7406640" cy="749808"/>
          </a:xfrm>
          <a:prstGeom prst="roundRect">
            <a:avLst>
              <a:gd name="adj" fmla="val 170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2" name="Image 9" descr="assets/blob-yellow-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232" y="5166360"/>
            <a:ext cx="530352" cy="530352"/>
          </a:xfrm>
          <a:prstGeom prst="rect">
            <a:avLst/>
          </a:prstGeom>
        </p:spPr>
      </p:pic>
      <p:pic>
        <p:nvPicPr>
          <p:cNvPr id="3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1731" y="5314859"/>
            <a:ext cx="233355" cy="233355"/>
          </a:xfrm>
          <a:prstGeom prst="rect">
            <a:avLst/>
          </a:prstGeom>
        </p:spPr>
      </p:pic>
      <p:sp>
        <p:nvSpPr>
          <p:cNvPr id="34" name="Text 21"/>
          <p:cNvSpPr/>
          <p:nvPr/>
        </p:nvSpPr>
        <p:spPr>
          <a:xfrm>
            <a:off x="1417320" y="51114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Design</a:t>
            </a:r>
            <a:endParaRPr lang="en-US" sz="1300" dirty="0"/>
          </a:p>
        </p:txBody>
      </p:sp>
      <p:sp>
        <p:nvSpPr>
          <p:cNvPr id="35" name="Text 22"/>
          <p:cNvSpPr/>
          <p:nvPr/>
        </p:nvSpPr>
        <p:spPr>
          <a:xfrm>
            <a:off x="1417320" y="54406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posts CRIA + 8 posts Atlas (R$ 50 por post, valor já praticado hoje).</a:t>
            </a:r>
            <a:endParaRPr lang="en-US" sz="1000" dirty="0"/>
          </a:p>
        </p:txBody>
      </p:sp>
      <p:sp>
        <p:nvSpPr>
          <p:cNvPr id="36" name="Text 23"/>
          <p:cNvSpPr/>
          <p:nvPr/>
        </p:nvSpPr>
        <p:spPr>
          <a:xfrm>
            <a:off x="6309360" y="511149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R$ 1.000</a:t>
            </a:r>
            <a:endParaRPr lang="en-US" sz="1600" dirty="0"/>
          </a:p>
        </p:txBody>
      </p:sp>
      <p:sp>
        <p:nvSpPr>
          <p:cNvPr id="37" name="Shape 24"/>
          <p:cNvSpPr/>
          <p:nvPr/>
        </p:nvSpPr>
        <p:spPr>
          <a:xfrm>
            <a:off x="502920" y="5916168"/>
            <a:ext cx="7406640" cy="548640"/>
          </a:xfrm>
          <a:prstGeom prst="roundRect">
            <a:avLst>
              <a:gd name="adj" fmla="val 2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5"/>
          <p:cNvSpPr/>
          <p:nvPr/>
        </p:nvSpPr>
        <p:spPr>
          <a:xfrm>
            <a:off x="868680" y="5998464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Total da máquina, por mês</a:t>
            </a:r>
            <a:endParaRPr lang="en-US" sz="1300" dirty="0"/>
          </a:p>
        </p:txBody>
      </p:sp>
      <p:sp>
        <p:nvSpPr>
          <p:cNvPr id="39" name="Text 26"/>
          <p:cNvSpPr/>
          <p:nvPr/>
        </p:nvSpPr>
        <p:spPr>
          <a:xfrm>
            <a:off x="5852160" y="5961888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R$ 18.900</a:t>
            </a:r>
            <a:endParaRPr lang="en-US" sz="1800" dirty="0"/>
          </a:p>
        </p:txBody>
      </p:sp>
      <p:sp>
        <p:nvSpPr>
          <p:cNvPr id="40" name="Shape 27"/>
          <p:cNvSpPr/>
          <p:nvPr/>
        </p:nvSpPr>
        <p:spPr>
          <a:xfrm>
            <a:off x="8138160" y="1691640"/>
            <a:ext cx="3547872" cy="2148840"/>
          </a:xfrm>
          <a:prstGeom prst="roundRect">
            <a:avLst>
              <a:gd name="adj" fmla="val 595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1" name="Image 11" descr="assets/blob-ink-2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94192" y="1901952"/>
            <a:ext cx="502920" cy="502920"/>
          </a:xfrm>
          <a:prstGeom prst="rect">
            <a:avLst/>
          </a:prstGeom>
        </p:spPr>
      </p:pic>
      <p:pic>
        <p:nvPicPr>
          <p:cNvPr id="4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535010" y="2042770"/>
            <a:ext cx="221285" cy="221285"/>
          </a:xfrm>
          <a:prstGeom prst="rect">
            <a:avLst/>
          </a:prstGeom>
        </p:spPr>
      </p:pic>
      <p:sp>
        <p:nvSpPr>
          <p:cNvPr id="43" name="Text 28"/>
          <p:cNvSpPr/>
          <p:nvPr/>
        </p:nvSpPr>
        <p:spPr>
          <a:xfrm>
            <a:off x="905256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Uma vez só: marcas e propriedade intelectual</a:t>
            </a:r>
            <a:endParaRPr lang="en-US" sz="1200" dirty="0"/>
          </a:p>
        </p:txBody>
      </p:sp>
      <p:sp>
        <p:nvSpPr>
          <p:cNvPr id="44" name="Text 29"/>
          <p:cNvSpPr/>
          <p:nvPr/>
        </p:nvSpPr>
        <p:spPr>
          <a:xfrm>
            <a:off x="8394192" y="2633472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~R$ 8.000 pra registrar as marcas CRIA e Atlas no INPI (o "cartório" das marcas) + registro dos softwares, com advogado.</a:t>
            </a:r>
            <a:endParaRPr lang="en-US" sz="1100" dirty="0"/>
          </a:p>
        </p:txBody>
      </p:sp>
      <p:sp>
        <p:nvSpPr>
          <p:cNvPr id="45" name="Shape 30"/>
          <p:cNvSpPr/>
          <p:nvPr/>
        </p:nvSpPr>
        <p:spPr>
          <a:xfrm>
            <a:off x="8138160" y="4023360"/>
            <a:ext cx="3547872" cy="2331720"/>
          </a:xfrm>
          <a:prstGeom prst="roundRect">
            <a:avLst>
              <a:gd name="adj" fmla="val 549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6" name="Image 13" descr="assets/blob-ink-0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94192" y="4233672"/>
            <a:ext cx="502920" cy="502920"/>
          </a:xfrm>
          <a:prstGeom prst="rect">
            <a:avLst/>
          </a:prstGeom>
        </p:spPr>
      </p:pic>
      <p:pic>
        <p:nvPicPr>
          <p:cNvPr id="47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5010" y="4374490"/>
            <a:ext cx="221285" cy="221285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9052560" y="4288536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partir do mês 7: equipe</a:t>
            </a:r>
            <a:endParaRPr lang="en-US" sz="1200" dirty="0"/>
          </a:p>
        </p:txBody>
      </p:sp>
      <p:sp>
        <p:nvSpPr>
          <p:cNvPr id="49" name="Text 32"/>
          <p:cNvSpPr/>
          <p:nvPr/>
        </p:nvSpPr>
        <p:spPr>
          <a:xfrm>
            <a:off x="8394192" y="4754880"/>
            <a:ext cx="3063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R$ 7.000 + atendimento (CS) R$ 3.000 por mês, 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pagos pela própria receita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quando estivermos chegando nos 1.000 assinantes. O aporte não banca folha.</a:t>
            </a:r>
            <a:endParaRPr lang="en-US" sz="1100" dirty="0"/>
          </a:p>
        </p:txBody>
      </p:sp>
      <p:sp>
        <p:nvSpPr>
          <p:cNvPr id="50" name="Text 3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1" name="Text 3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557784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40370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6255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MATEMÁTICA DOS 1.000 ASSINANTES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 custa chegar a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 assinantes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397764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179222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 premissas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176272"/>
            <a:ext cx="3337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de SaaS ≈ 1 a 2× o ticket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(benchmark do nosso parceiro de tráfego): entre R$ 33 e R$ 66 por assinante.
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 mil/mês de anúncio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de 162 a 324 assinantes novos por mês.
</a:t>
            </a:r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Cancelamentos já descontados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(4% a 7% ao mês). E a conta bate: 1.000 × R$ 46 = R$ 46 mil de tráfego. ✓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" y="4828032"/>
            <a:ext cx="3977640" cy="1536192"/>
          </a:xfrm>
          <a:prstGeom prst="roundRect">
            <a:avLst>
              <a:gd name="adj" fmla="val 8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1" name="Image 1" descr="assets/blob-pink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368" y="4645152"/>
            <a:ext cx="475488" cy="47548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77240" y="49560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isso é SÓ o tráfego pago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77240" y="5303520"/>
            <a:ext cx="3429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publi certa de R$ 2 a 3 mil com um influenciador do nicho pode trazer 300 a 400 assinantes de uma vez: o custo por assinante cai de R$ 46 pra menos de R$ 10.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disso está no gráfico.</a:t>
            </a:r>
            <a:endParaRPr lang="en-US" sz="105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4709160" y="1691640"/>
          <a:ext cx="69494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Shape 10"/>
          <p:cNvSpPr/>
          <p:nvPr/>
        </p:nvSpPr>
        <p:spPr>
          <a:xfrm>
            <a:off x="5074920" y="4114800"/>
            <a:ext cx="6309360" cy="0"/>
          </a:xfrm>
          <a:prstGeom prst="line">
            <a:avLst/>
          </a:prstGeom>
          <a:noFill/>
          <a:ln w="12700">
            <a:solidFill>
              <a:srgbClr val="17140F"/>
            </a:solidFill>
            <a:prstDash val="dash"/>
          </a:ln>
        </p:spPr>
      </p:sp>
      <p:sp>
        <p:nvSpPr>
          <p:cNvPr id="16" name="Text 11"/>
          <p:cNvSpPr/>
          <p:nvPr/>
        </p:nvSpPr>
        <p:spPr>
          <a:xfrm>
            <a:off x="5074920" y="3767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1.000 assinantes  →  mês 4, 6 ou 8, conforme o custo por assinante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709160" y="5715000"/>
            <a:ext cx="6976872" cy="731520"/>
          </a:xfrm>
          <a:prstGeom prst="roundRect">
            <a:avLst>
              <a:gd name="adj" fmla="val 17500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5029200" y="58521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1.000 assinantes: MRR de ~R$ 31 mil/mês,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máquina continua ligada: a meta seguinte é o teto de ~4.300.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14300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61645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2049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AS PROJEÇÕES NÃO CONTAM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Usamos R$ 31 por assinante.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teto é muito maior.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1755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está nas contas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206240" y="17373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R$ 31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355080" y="173736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conservadora: quase todo mundo no plano do meio, ninguém no topo, zero venda extra.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02920" y="2660904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68680" y="27706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Criador no Studio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206240" y="275234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R$ 49,90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355080" y="2752344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completo com Cria Plano, Stories, Prompter e Collabs. É o plano âncora, e leva 75% da verba.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02920" y="3675888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68680" y="3785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Social media com módulos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206240" y="376732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R$ 75 a 200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6355080" y="3767328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Combo do dia a dia R$ 74,70. Com Radar, Modo Agência e carteira de clientes, passa de R$ 165/mês.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4690872"/>
            <a:ext cx="11183112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68680" y="4800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Vendas avulsas (order bump)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206240" y="478231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R$ 30 a 60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6355080" y="4782312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Packs de roteiros, criativos e templates vendidos DENTRO do sistema, pra quem já é assinante. Receita extra sem CAC nenhum.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02920" y="5806440"/>
            <a:ext cx="11183112" cy="548640"/>
          </a:xfrm>
          <a:prstGeom prst="roundRect">
            <a:avLst>
              <a:gd name="adj" fmla="val 23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868680" y="5897880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a mais no ticket médio vira lucro quase inteiro,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o custo de servir o cliente já está pago (R$ 3,30/mês na escala).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91440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40817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996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Tudo que você viu até aqui é o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cenário conservador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45920"/>
          <a:ext cx="60350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513892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no primeiro ano, por cenário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812280" y="164592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086600" y="17373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Conservador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9235440" y="1773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R$ 31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7086600" y="206654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tráfego pago funcionando, ninguém no plano alto, zero venda extra e nenhum efeito de UGC.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7086600" y="261518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R$ 735 mil de receita anual · fatia vale 2,7× em 2 anos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812280" y="306324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7086600" y="31546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Mediano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9235440" y="31912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R$ 39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086600" y="348386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real de planos, social medias ativando módulos e o UGC trazendo 20% de gente além do anúncio.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086600" y="403250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4B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R$ 1,03 milhão · fatia 3,8× · aporte de volta em 2,8 anos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812280" y="4480560"/>
            <a:ext cx="4873752" cy="1335024"/>
          </a:xfrm>
          <a:prstGeom prst="roundRect">
            <a:avLst>
              <a:gd name="adj" fmla="val 95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086600" y="457200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27EB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Agressivo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9235440" y="46085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ticket R$ 54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086600" y="490118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Studio e Modo Agência puxando o mix, packs vendidos na base e o barulho do lançamento gerando 40% de orgânico.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7086600" y="5449824"/>
            <a:ext cx="4343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7E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R$ 1,9 milhão · fatia 7,4× · aporte de volta em 1,9 ano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502920" y="5870448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868680" y="596188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Escolhemos apresentar o pior dos três.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Prefiro entregar acima do combinado a explicar por que não bati a meta. Os outros dois são o que acontece se o plano funcionar como esperamos.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100584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786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 não é o destino.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o primeiro degrau.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783080"/>
          <a:ext cx="60350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02920" y="56692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recorrente mensal (MRR) no cenário base, mantendo a máquina de R$ 18,9 mil/mês ligada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858000" y="1783080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178040" y="1911096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R$ 735 mil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9326880" y="1874520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receita anualizada (ARR) ao fim do ano 1 (cenário base)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858000" y="3209544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7178040" y="33375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~4.300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9326880" y="3300984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 é o teto natural DESTE nível de verba. Subir a verba = subir o teto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858000" y="4636008"/>
            <a:ext cx="4828032" cy="1261872"/>
          </a:xfrm>
          <a:prstGeom prst="roundRect">
            <a:avLst>
              <a:gd name="adj" fmla="val 10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178040" y="47640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 motores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9326880" y="4727448"/>
            <a:ext cx="22402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CRIA rodando liso, o foco extra vira pro Atlas, que tem o mesmo manual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 rot="-120000">
            <a:off x="7223760" y="5870448"/>
            <a:ext cx="4114800" cy="566928"/>
          </a:xfrm>
          <a:prstGeom prst="roundRect">
            <a:avLst>
              <a:gd name="adj" fmla="val 50000"/>
            </a:avLst>
          </a:prstGeom>
          <a:solidFill>
            <a:srgbClr val="E9E2D2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receita que entra é reinvestida: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isso a curva não para nos 1.000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1005840"/>
            <a:ext cx="1828800" cy="1828800"/>
          </a:xfrm>
          <a:prstGeom prst="rect">
            <a:avLst/>
          </a:prstGeom>
        </p:spPr>
      </p:pic>
      <p:pic>
        <p:nvPicPr>
          <p:cNvPr id="3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6235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× CUSTO × LUCRO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quanto isso vira de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lucro?</a:t>
            </a:r>
            <a:endParaRPr lang="en-US" sz="2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" y="1691640"/>
          <a:ext cx="61264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02920" y="544068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em R$ mil por mês, por número de assinantes. Custo total = taxas/impostos/infra (~30% da receita) + máquina de marketing + equipe crescendo junto.</a:t>
            </a:r>
            <a:endParaRPr lang="en-US" sz="1000" dirty="0"/>
          </a:p>
        </p:txBody>
      </p:sp>
      <p:sp>
        <p:nvSpPr>
          <p:cNvPr id="10" name="Shape 5"/>
          <p:cNvSpPr/>
          <p:nvPr/>
        </p:nvSpPr>
        <p:spPr>
          <a:xfrm>
            <a:off x="6858000" y="1691640"/>
            <a:ext cx="4828032" cy="36576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1" name="Text 6"/>
          <p:cNvSpPr/>
          <p:nvPr/>
        </p:nvSpPr>
        <p:spPr>
          <a:xfrm>
            <a:off x="7150608" y="19019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Assinantes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229600" y="1901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Lucro/ano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9646920" y="19019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104120" y="1920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7150608" y="23591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1.000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8229600" y="23591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empate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9646920" y="23591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101041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passa a se pagar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7150608" y="310896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2.000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29600" y="3108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R$ 136 mil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9646920" y="31089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10104120" y="312724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completa contratada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7150608" y="385876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5.000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8229600" y="3858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R$ 638 mil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9646920" y="38587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10104120" y="38770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marketing ampliada</a:t>
            </a:r>
            <a:endParaRPr lang="en-US" sz="850" dirty="0"/>
          </a:p>
        </p:txBody>
      </p:sp>
      <p:sp>
        <p:nvSpPr>
          <p:cNvPr id="27" name="Text 22"/>
          <p:cNvSpPr/>
          <p:nvPr/>
        </p:nvSpPr>
        <p:spPr>
          <a:xfrm>
            <a:off x="7150608" y="460857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10.000</a:t>
            </a:r>
            <a:endParaRPr lang="en-US" sz="1250" dirty="0"/>
          </a:p>
        </p:txBody>
      </p:sp>
      <p:sp>
        <p:nvSpPr>
          <p:cNvPr id="28" name="Text 23"/>
          <p:cNvSpPr/>
          <p:nvPr/>
        </p:nvSpPr>
        <p:spPr>
          <a:xfrm>
            <a:off x="8229600" y="4608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R$ 1,4 milhão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9646920" y="46085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38%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10104120" y="462686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 R$ 3,7 mi</a:t>
            </a:r>
            <a:endParaRPr lang="en-US" sz="850" dirty="0"/>
          </a:p>
        </p:txBody>
      </p:sp>
      <p:sp>
        <p:nvSpPr>
          <p:cNvPr id="31" name="Text 26"/>
          <p:cNvSpPr/>
          <p:nvPr/>
        </p:nvSpPr>
        <p:spPr>
          <a:xfrm rot="-120000">
            <a:off x="7589520" y="5029200"/>
            <a:ext cx="3657600" cy="6858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esse lucro que remunera os sócios,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todo ano, além da valorização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502920" y="5943600"/>
            <a:ext cx="11183112" cy="566928"/>
          </a:xfrm>
          <a:prstGeom prst="roundRect">
            <a:avLst>
              <a:gd name="adj" fmla="val 2258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3" name="Text 28"/>
          <p:cNvSpPr/>
          <p:nvPr/>
        </p:nvSpPr>
        <p:spPr>
          <a:xfrm>
            <a:off x="868680" y="6016752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isso que "se retropagar" significa: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partir dos 1.000 assinantes, o próprio caixa banca marketing e equipe. O aporte é um só, o lucro é crescente.</a:t>
            </a:r>
            <a:endParaRPr lang="en-US" sz="1200" dirty="0"/>
          </a:p>
        </p:txBody>
      </p:sp>
      <p:sp>
        <p:nvSpPr>
          <p:cNvPr id="34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0584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DERRETE COM A ESCALA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Quanto custa manter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 cliente ativo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logo-c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47088"/>
            <a:ext cx="1051560" cy="5760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1752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 (premissas abertas)</a:t>
            </a:r>
            <a:endParaRPr lang="en-US" sz="9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77240" y="2377440"/>
          <a:ext cx="49377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822960" y="4617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fixa (Supabase + Vercel ~R$ 300/mês) rateada + IA por uso: Gemini no dia a dia (barato) e Perplexity/Apify/Higgsfield só em módulos específicos.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6199632" y="1645920"/>
            <a:ext cx="548640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2" descr="assets/logo-atl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1810512"/>
            <a:ext cx="640080" cy="64008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686800" y="1993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medido (planilha de custos real)</a:t>
            </a:r>
            <a:endParaRPr lang="en-US" sz="95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6473952" y="2377440"/>
          <a:ext cx="493776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6" name="Text 9"/>
          <p:cNvSpPr/>
          <p:nvPr/>
        </p:nvSpPr>
        <p:spPr>
          <a:xfrm>
            <a:off x="6519672" y="46177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 + IA (OpenAI: gpt-4o-mini no dia a dia, gpt-4o só nos relatórios) + vídeo + taxa do cartão, já somados. Câmbio R$ 5,18.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502920" y="5577840"/>
            <a:ext cx="11183112" cy="868680"/>
          </a:xfrm>
          <a:prstGeom prst="roundRect">
            <a:avLst>
              <a:gd name="adj" fmla="val 1473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868680" y="571500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escala, cada cliente custa ~R$ 3,30/mês pra manter e paga R$ 25 a 33.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Sobram ~78% de margem recorrente por cliente, já descontando cartão e impostos. Nas projeções deste plano usamos 70%, por prudência.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34440" y="-123444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DE 1 ASSINANTE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Por que essa máquina é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lucrativa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530352" cy="530352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19" y="2068739"/>
            <a:ext cx="233355" cy="23335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31520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R$ 46</a:t>
            </a:r>
            <a:endParaRPr lang="en-US" sz="2700" dirty="0"/>
          </a:p>
        </p:txBody>
      </p:sp>
      <p:sp>
        <p:nvSpPr>
          <p:cNvPr id="11" name="Text 6"/>
          <p:cNvSpPr/>
          <p:nvPr/>
        </p:nvSpPr>
        <p:spPr>
          <a:xfrm>
            <a:off x="731520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custa pra conquistar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assinante (CAC)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3035808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3401568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3" descr="assets/blob-blu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0168" y="1920240"/>
            <a:ext cx="530352" cy="530352"/>
          </a:xfrm>
          <a:prstGeom prst="rect">
            <a:avLst/>
          </a:prstGeom>
        </p:spPr>
      </p:pic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8667" y="2068739"/>
            <a:ext cx="233355" cy="23335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630168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R$ 31</a:t>
            </a:r>
            <a:endParaRPr lang="en-US" sz="2700" dirty="0"/>
          </a:p>
        </p:txBody>
      </p:sp>
      <p:sp>
        <p:nvSpPr>
          <p:cNvPr id="17" name="Text 10"/>
          <p:cNvSpPr/>
          <p:nvPr/>
        </p:nvSpPr>
        <p:spPr>
          <a:xfrm>
            <a:off x="3630168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paga por mês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(ticket médio)</a:t>
            </a:r>
            <a:endParaRPr lang="en-US" sz="1150" dirty="0"/>
          </a:p>
        </p:txBody>
      </p:sp>
      <p:sp>
        <p:nvSpPr>
          <p:cNvPr id="18" name="Text 11"/>
          <p:cNvSpPr/>
          <p:nvPr/>
        </p:nvSpPr>
        <p:spPr>
          <a:xfrm>
            <a:off x="5934456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300216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yellow-2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8816" y="1920240"/>
            <a:ext cx="530352" cy="530352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7315" y="2068739"/>
            <a:ext cx="233355" cy="233355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528816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1,5 mês</a:t>
            </a:r>
            <a:endParaRPr lang="en-US" sz="2700" dirty="0"/>
          </a:p>
        </p:txBody>
      </p:sp>
      <p:sp>
        <p:nvSpPr>
          <p:cNvPr id="23" name="Text 14"/>
          <p:cNvSpPr/>
          <p:nvPr/>
        </p:nvSpPr>
        <p:spPr>
          <a:xfrm>
            <a:off x="6528816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assinante já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pagou</a:t>
            </a:r>
            <a:endParaRPr lang="en-US" sz="1150" dirty="0"/>
          </a:p>
        </p:txBody>
      </p:sp>
      <p:sp>
        <p:nvSpPr>
          <p:cNvPr id="24" name="Text 15"/>
          <p:cNvSpPr/>
          <p:nvPr/>
        </p:nvSpPr>
        <p:spPr>
          <a:xfrm>
            <a:off x="8833104" y="251460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9198864" y="1691640"/>
            <a:ext cx="2514600" cy="2423160"/>
          </a:xfrm>
          <a:prstGeom prst="roundRect">
            <a:avLst>
              <a:gd name="adj" fmla="val 5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6" name="Image 7" descr="assets/blob-green-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7464" y="1920240"/>
            <a:ext cx="530352" cy="530352"/>
          </a:xfrm>
          <a:prstGeom prst="rect">
            <a:avLst/>
          </a:prstGeom>
        </p:spPr>
      </p:pic>
      <p:pic>
        <p:nvPicPr>
          <p:cNvPr id="2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75963" y="2068739"/>
            <a:ext cx="233355" cy="233355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427464" y="256032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R$ 618</a:t>
            </a:r>
            <a:endParaRPr lang="en-US" sz="2700" dirty="0"/>
          </a:p>
        </p:txBody>
      </p:sp>
      <p:sp>
        <p:nvSpPr>
          <p:cNvPr id="29" name="Text 18"/>
          <p:cNvSpPr/>
          <p:nvPr/>
        </p:nvSpPr>
        <p:spPr>
          <a:xfrm>
            <a:off x="9427464" y="3218688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que ele deixa no total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cancelar (LTV)</a:t>
            </a:r>
            <a:endParaRPr lang="en-US" sz="1150" dirty="0"/>
          </a:p>
        </p:txBody>
      </p:sp>
      <p:sp>
        <p:nvSpPr>
          <p:cNvPr id="30" name="Shape 19"/>
          <p:cNvSpPr/>
          <p:nvPr/>
        </p:nvSpPr>
        <p:spPr>
          <a:xfrm>
            <a:off x="502920" y="443484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1" name="Image 9" descr="assets/blob-yellow-2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74920" y="4206240"/>
            <a:ext cx="822960" cy="82296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914400" y="47091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LTV ÷ CAC = 13×</a:t>
            </a:r>
            <a:endParaRPr lang="en-US" sz="3600" dirty="0"/>
          </a:p>
        </p:txBody>
      </p:sp>
      <p:sp>
        <p:nvSpPr>
          <p:cNvPr id="33" name="Text 21"/>
          <p:cNvSpPr/>
          <p:nvPr/>
        </p:nvSpPr>
        <p:spPr>
          <a:xfrm>
            <a:off x="914400" y="55321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de marketing vira R$ 13 de receita ao longo da vida do assinante</a:t>
            </a:r>
            <a:endParaRPr lang="en-US" sz="1250" dirty="0"/>
          </a:p>
        </p:txBody>
      </p:sp>
      <p:sp>
        <p:nvSpPr>
          <p:cNvPr id="34" name="Shape 22"/>
          <p:cNvSpPr/>
          <p:nvPr/>
        </p:nvSpPr>
        <p:spPr>
          <a:xfrm>
            <a:off x="5989320" y="4754880"/>
            <a:ext cx="0" cy="1325880"/>
          </a:xfrm>
          <a:prstGeom prst="line">
            <a:avLst/>
          </a:prstGeom>
          <a:noFill/>
          <a:ln w="12700">
            <a:solidFill>
              <a:srgbClr val="4A443A"/>
            </a:solidFill>
            <a:prstDash val="solid"/>
          </a:ln>
        </p:spPr>
      </p:sp>
      <p:sp>
        <p:nvSpPr>
          <p:cNvPr id="35" name="Text 23"/>
          <p:cNvSpPr/>
          <p:nvPr/>
        </p:nvSpPr>
        <p:spPr>
          <a:xfrm>
            <a:off x="6355080" y="4754880"/>
            <a:ext cx="5074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saudável no mercado de SaaS é 3×.
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Mesmo se o CAC dobrar e o cancelamento subir pro pior cenário, ainda fica em 7×.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máquina com margem pra errar.</a:t>
            </a:r>
            <a:endParaRPr lang="en-US" sz="1350" dirty="0"/>
          </a:p>
        </p:txBody>
      </p:sp>
      <p:sp>
        <p:nvSpPr>
          <p:cNvPr id="36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4937760"/>
            <a:ext cx="2377440" cy="2377440"/>
          </a:xfrm>
          <a:prstGeom prst="rect">
            <a:avLst/>
          </a:prstGeom>
        </p:spPr>
      </p:pic>
      <p:pic>
        <p:nvPicPr>
          <p:cNvPr id="3" name="Image 1" descr="assets/blob-pink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-8229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161848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1207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PROPOSTA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convite pra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sociedade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554480"/>
            <a:ext cx="11183112" cy="1371600"/>
          </a:xfrm>
          <a:prstGeom prst="roundRect">
            <a:avLst>
              <a:gd name="adj" fmla="val 9333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914400" y="169164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R$ 250 mil</a:t>
            </a:r>
            <a:pPr indent="0" marL="0">
              <a:buNone/>
            </a:pPr>
            <a:r>
              <a:rPr lang="en-US" sz="2200" dirty="0">
                <a:solidFill>
                  <a:srgbClr val="9A938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  por   </a:t>
            </a:r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20% da sociedade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932688" y="245059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participação só, na empresa dona dos dois produtos (CRIA + Atlas). Margem de conversa até 25%.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 rot="-180000">
            <a:off x="9326880" y="2240280"/>
            <a:ext cx="2514600" cy="6858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cheque único: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sem novas chamadas de dinheiro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2920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2" descr="assets/blob-orange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364992"/>
            <a:ext cx="530352" cy="530352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51" y="3513491"/>
            <a:ext cx="233355" cy="23335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417320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À vista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58952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R$ 250 mil no ato.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meses de operação garantidos, sem depender de receita. Máxima velocidade.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4288536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4" descr="assets/blob-green-0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568" y="3364992"/>
            <a:ext cx="530352" cy="530352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3067" y="3513491"/>
            <a:ext cx="233355" cy="23335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5202936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3 etapas, por meta</a:t>
            </a:r>
            <a:endParaRPr lang="en-US" sz="1500" dirty="0"/>
          </a:p>
        </p:txBody>
      </p:sp>
      <p:sp>
        <p:nvSpPr>
          <p:cNvPr id="21" name="Text 13"/>
          <p:cNvSpPr/>
          <p:nvPr/>
        </p:nvSpPr>
        <p:spPr>
          <a:xfrm>
            <a:off x="4544568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R$ 85 mil no início · R$ 85 mil aos 400 assinantes · R$ 80 mil nos 800.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risco do investidor cai a cada etapa.</a:t>
            </a:r>
            <a:endParaRPr lang="en-US" sz="1150" dirty="0"/>
          </a:p>
        </p:txBody>
      </p:sp>
      <p:sp>
        <p:nvSpPr>
          <p:cNvPr id="22" name="Shape 14"/>
          <p:cNvSpPr/>
          <p:nvPr/>
        </p:nvSpPr>
        <p:spPr>
          <a:xfrm>
            <a:off x="8074152" y="3154680"/>
            <a:ext cx="361188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6" descr="assets/blob-blu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30184" y="3364992"/>
            <a:ext cx="530352" cy="530352"/>
          </a:xfrm>
          <a:prstGeom prst="rect">
            <a:avLst/>
          </a:prstGeom>
        </p:spPr>
      </p:pic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8683" y="3513491"/>
            <a:ext cx="233355" cy="233355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988552" y="3438144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Mensal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8330184" y="4041648"/>
            <a:ext cx="30998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R$ 21 mil/mês por 12 meses.</a:t>
            </a:r>
            <a:endParaRPr lang="en-US" sz="11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 o caixa da operação de perto, mês a mês.</a:t>
            </a:r>
            <a:endParaRPr lang="en-US" sz="1150" dirty="0"/>
          </a:p>
        </p:txBody>
      </p:sp>
      <p:sp>
        <p:nvSpPr>
          <p:cNvPr id="27" name="Shape 17"/>
          <p:cNvSpPr/>
          <p:nvPr/>
        </p:nvSpPr>
        <p:spPr>
          <a:xfrm>
            <a:off x="502920" y="5440680"/>
            <a:ext cx="11183112" cy="1005840"/>
          </a:xfrm>
          <a:prstGeom prst="roundRect">
            <a:avLst>
              <a:gd name="adj" fmla="val 12727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8" name="Text 18"/>
          <p:cNvSpPr/>
          <p:nvPr/>
        </p:nvSpPr>
        <p:spPr>
          <a:xfrm>
            <a:off x="868680" y="5559552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onde vem o valuation de R$ 1,25 milhão: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dois produtos estão prontos: só reconstruí-los do zero custaria mais de R$ 500 mil e 2 anos. Somam-se as marcas, o método proprietário do Atlas, a base de conhecimento do CRIA e dois mercados em crescimento de dois dígitos. O aporte compra crescimento, não promessa de software.</a:t>
            </a:r>
            <a:endParaRPr lang="en-US" sz="1200" dirty="0"/>
          </a:p>
        </p:txBody>
      </p:sp>
      <p:sp>
        <p:nvSpPr>
          <p:cNvPr id="29" name="Text 1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564892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1534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TOTAL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Pra onde vai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cada real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(12 meses)</a:t>
            </a:r>
            <a:endParaRPr lang="en-US" sz="2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645920"/>
          <a:ext cx="4937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1691640" y="34290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R$ 250 mil</a:t>
            </a:r>
            <a:endParaRPr lang="en-US" sz="21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crescimento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5806440" y="1883664"/>
            <a:ext cx="201168" cy="201168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10" name="Text 6"/>
          <p:cNvSpPr/>
          <p:nvPr/>
        </p:nvSpPr>
        <p:spPr>
          <a:xfrm>
            <a:off x="6126480" y="182880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Tráfego pago (anúncios)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9235440" y="182880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R$ 120.000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789920" y="18288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806440" y="2304288"/>
            <a:ext cx="201168" cy="201168"/>
          </a:xfrm>
          <a:prstGeom prst="ellipse">
            <a:avLst/>
          </a:prstGeom>
          <a:solidFill>
            <a:srgbClr val="F27EB5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224942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UGC e influenciadores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9235440" y="224942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R$ 40.800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789920" y="224942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806440" y="2724912"/>
            <a:ext cx="201168" cy="20116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18" name="Text 14"/>
          <p:cNvSpPr/>
          <p:nvPr/>
        </p:nvSpPr>
        <p:spPr>
          <a:xfrm>
            <a:off x="6126480" y="267004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Parcerias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9235440" y="26700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R$ 30.000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789920" y="26700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806440" y="3145536"/>
            <a:ext cx="201168" cy="201168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22" name="Text 18"/>
          <p:cNvSpPr/>
          <p:nvPr/>
        </p:nvSpPr>
        <p:spPr>
          <a:xfrm>
            <a:off x="6126480" y="309067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e motion design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9235440" y="30906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R$ 24.000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789920" y="309067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806440" y="3566160"/>
            <a:ext cx="201168" cy="201168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26" name="Text 22"/>
          <p:cNvSpPr/>
          <p:nvPr/>
        </p:nvSpPr>
        <p:spPr>
          <a:xfrm>
            <a:off x="6126480" y="351129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(posts)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235440" y="351129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R$ 12.000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789920" y="351129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806440" y="3986784"/>
            <a:ext cx="201168" cy="201168"/>
          </a:xfrm>
          <a:prstGeom prst="ellipse">
            <a:avLst/>
          </a:prstGeom>
          <a:solidFill>
            <a:srgbClr val="8A8578"/>
          </a:solidFill>
          <a:ln/>
        </p:spPr>
      </p:sp>
      <p:sp>
        <p:nvSpPr>
          <p:cNvPr id="30" name="Text 26"/>
          <p:cNvSpPr/>
          <p:nvPr/>
        </p:nvSpPr>
        <p:spPr>
          <a:xfrm>
            <a:off x="6126480" y="3931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e registros (INPI)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9235440" y="3931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R$ 8.000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10789920" y="39319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5806440" y="4407408"/>
            <a:ext cx="201168" cy="201168"/>
          </a:xfrm>
          <a:prstGeom prst="ellipse">
            <a:avLst/>
          </a:prstGeom>
          <a:solidFill>
            <a:srgbClr val="B9AF9C"/>
          </a:solidFill>
          <a:ln/>
        </p:spPr>
      </p:sp>
      <p:sp>
        <p:nvSpPr>
          <p:cNvPr id="34" name="Text 30"/>
          <p:cNvSpPr/>
          <p:nvPr/>
        </p:nvSpPr>
        <p:spPr>
          <a:xfrm>
            <a:off x="6126480" y="43525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Reserva de segurança</a:t>
            </a:r>
            <a:endParaRPr lang="en-US" sz="1250" dirty="0"/>
          </a:p>
        </p:txBody>
      </p:sp>
      <p:sp>
        <p:nvSpPr>
          <p:cNvPr id="35" name="Text 31"/>
          <p:cNvSpPr/>
          <p:nvPr/>
        </p:nvSpPr>
        <p:spPr>
          <a:xfrm>
            <a:off x="9235440" y="435254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R$ 15.200</a:t>
            </a:r>
            <a:endParaRPr lang="en-US" sz="1250" dirty="0"/>
          </a:p>
        </p:txBody>
      </p:sp>
      <p:sp>
        <p:nvSpPr>
          <p:cNvPr id="36" name="Text 32"/>
          <p:cNvSpPr/>
          <p:nvPr/>
        </p:nvSpPr>
        <p:spPr>
          <a:xfrm>
            <a:off x="10789920" y="435254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6%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5806440" y="4910328"/>
            <a:ext cx="585216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34"/>
          <p:cNvSpPr/>
          <p:nvPr/>
        </p:nvSpPr>
        <p:spPr>
          <a:xfrm>
            <a:off x="6080760" y="5029200"/>
            <a:ext cx="5303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 é o único cheque. </a:t>
            </a:r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banca 12 meses de marketing no ritmo máximo, aconteça o que acontecer. A equipe (mês 7) já entra paga pela receita, e do mês 13 em diante TUDO (marketing, time, melhorias) sai da margem da própria operação. Não existe segunda chamada de dinheiro: acelerar além do plano é opção conjunta, nunca obrigação.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blu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1440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SOCIEDADE SE ORGANIZA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Duas empresas,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tudo separado e no lugar certo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logo-cr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1143000" cy="6217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próprio · marca CRIA registrada no INPI por ele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91072" y="1691640"/>
            <a:ext cx="53949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1" name="Image 2" descr="assets/logo-atl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1112" y="1847088"/>
            <a:ext cx="777240" cy="7772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611112" y="269748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próprio · marca Atlas registrada no INPI por ele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502920" y="36576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mesma participação nas duas empresas</a:t>
            </a:r>
            <a:endParaRPr lang="en-US" sz="1350" dirty="0"/>
          </a:p>
        </p:txBody>
      </p:sp>
      <p:sp>
        <p:nvSpPr>
          <p:cNvPr id="14" name="Shape 9"/>
          <p:cNvSpPr/>
          <p:nvPr/>
        </p:nvSpPr>
        <p:spPr>
          <a:xfrm>
            <a:off x="502920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5" name="Image 3" descr="assets/blob-green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4315968"/>
            <a:ext cx="457200" cy="457200"/>
          </a:xfrm>
          <a:prstGeom prst="rect">
            <a:avLst/>
          </a:prstGeom>
        </p:spPr>
      </p:pic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43984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07592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Contabilidade limpa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740664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negócio com o resultado dele, sem misturar. Você enxerga qual está performando.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4288536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0" name="Image 5" descr="assets/blob-orange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6280" y="4315968"/>
            <a:ext cx="457200" cy="457200"/>
          </a:xfrm>
          <a:prstGeom prst="rect">
            <a:avLst/>
          </a:prstGeom>
        </p:spPr>
      </p:pic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296" y="4443984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5093208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Um protege o outro</a:t>
            </a:r>
            <a:endParaRPr lang="en-US" sz="1250" dirty="0"/>
          </a:p>
        </p:txBody>
      </p:sp>
      <p:sp>
        <p:nvSpPr>
          <p:cNvPr id="23" name="Text 14"/>
          <p:cNvSpPr/>
          <p:nvPr/>
        </p:nvSpPr>
        <p:spPr>
          <a:xfrm>
            <a:off x="4526280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jurídico ou fiscal em um não contamina o outro.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8074152" y="4114800"/>
            <a:ext cx="361188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5" name="Image 7" descr="assets/blob-blue-0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1896" y="4315968"/>
            <a:ext cx="457200" cy="457200"/>
          </a:xfrm>
          <a:prstGeom prst="rect">
            <a:avLst/>
          </a:prstGeom>
        </p:spPr>
      </p:pic>
      <p:pic>
        <p:nvPicPr>
          <p:cNvPr id="2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443984"/>
            <a:ext cx="201168" cy="201168"/>
          </a:xfrm>
          <a:prstGeom prst="rect">
            <a:avLst/>
          </a:prstGeom>
        </p:spPr>
      </p:pic>
      <p:sp>
        <p:nvSpPr>
          <p:cNvPr id="27" name="Text 16"/>
          <p:cNvSpPr/>
          <p:nvPr/>
        </p:nvSpPr>
        <p:spPr>
          <a:xfrm>
            <a:off x="8878824" y="433425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Liberdade de futuro</a:t>
            </a:r>
            <a:endParaRPr lang="en-US" sz="1250" dirty="0"/>
          </a:p>
        </p:txBody>
      </p:sp>
      <p:sp>
        <p:nvSpPr>
          <p:cNvPr id="28" name="Text 17"/>
          <p:cNvSpPr/>
          <p:nvPr/>
        </p:nvSpPr>
        <p:spPr>
          <a:xfrm>
            <a:off x="8311896" y="4809744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Dá pra vender ou captar investimento em um sem mexer no outro.</a:t>
            </a:r>
            <a:endParaRPr lang="en-US" sz="1050" dirty="0"/>
          </a:p>
        </p:txBody>
      </p:sp>
      <p:sp>
        <p:nvSpPr>
          <p:cNvPr id="29" name="Shape 18"/>
          <p:cNvSpPr/>
          <p:nvPr/>
        </p:nvSpPr>
        <p:spPr>
          <a:xfrm>
            <a:off x="502920" y="5715000"/>
            <a:ext cx="11183112" cy="868680"/>
          </a:xfrm>
          <a:prstGeom prst="roundRect">
            <a:avLst>
              <a:gd name="adj" fmla="val 1473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0" name="Text 19"/>
          <p:cNvSpPr/>
          <p:nvPr/>
        </p:nvSpPr>
        <p:spPr>
          <a:xfrm>
            <a:off x="868680" y="58338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isso custa: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das duas empresas ~R$ 3 mil · registro das duas marcas no INPI ~R$ 5 mil · registro dos softwares e contrato de sociedade com advogado ~R$ 4 mil. </a:t>
            </a:r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uma vez: R$ 12 mil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(já dentro do aporte). Depois, contador de R$ 400/mês para cada empresa: R$ 800/mês, pago pela operação.</a:t>
            </a:r>
            <a:endParaRPr lang="en-US" sz="1150" dirty="0"/>
          </a:p>
        </p:txBody>
      </p:sp>
      <p:sp>
        <p:nvSpPr>
          <p:cNvPr id="31" name="Text 20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2" name="Text 2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orang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544068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3545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CE4A1D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194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MEU COMPROMISSO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que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eu assumo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nessa sociedade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orang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929384"/>
            <a:ext cx="502920" cy="50292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0" y="2070202"/>
            <a:ext cx="221285" cy="22128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39903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Produto e tecnologia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75895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Desenvolvimento, correções, novas funções e a infraestrutura dos dois sistemas. Sem custo de desenvolvedor externo.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29768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1929384"/>
            <a:ext cx="502920" cy="50292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4530" y="2070202"/>
            <a:ext cx="221285" cy="221285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519379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Operação de marketing</a:t>
            </a:r>
            <a:endParaRPr lang="en-US" sz="1300" dirty="0"/>
          </a:p>
        </p:txBody>
      </p:sp>
      <p:sp>
        <p:nvSpPr>
          <p:cNvPr id="16" name="Text 9"/>
          <p:cNvSpPr/>
          <p:nvPr/>
        </p:nvSpPr>
        <p:spPr>
          <a:xfrm>
            <a:off x="455371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tráfego, briefing e aprovação dos criativos, negociação com UGC e influenciadores.</a:t>
            </a:r>
            <a:endParaRPr lang="en-US" sz="1100" dirty="0"/>
          </a:p>
        </p:txBody>
      </p:sp>
      <p:sp>
        <p:nvSpPr>
          <p:cNvPr id="17" name="Shape 10"/>
          <p:cNvSpPr/>
          <p:nvPr/>
        </p:nvSpPr>
        <p:spPr>
          <a:xfrm>
            <a:off x="8092440" y="1691640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8" name="Image 5" descr="assets/blob-green-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8472" y="1929384"/>
            <a:ext cx="502920" cy="502920"/>
          </a:xfrm>
          <a:prstGeom prst="rect">
            <a:avLst/>
          </a:prstGeom>
        </p:spPr>
      </p:pic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9290" y="2070202"/>
            <a:ext cx="221285" cy="221285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988552" y="1965960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Atendimento e retenção</a:t>
            </a:r>
            <a:endParaRPr lang="en-US" sz="1300" dirty="0"/>
          </a:p>
        </p:txBody>
      </p:sp>
      <p:sp>
        <p:nvSpPr>
          <p:cNvPr id="21" name="Text 12"/>
          <p:cNvSpPr/>
          <p:nvPr/>
        </p:nvSpPr>
        <p:spPr>
          <a:xfrm>
            <a:off x="8348472" y="2624328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aos assinantes e acompanhamento do cancelamento, até a contratação da pessoa de atendimento.</a:t>
            </a:r>
            <a:endParaRPr lang="en-US" sz="1100" dirty="0"/>
          </a:p>
        </p:txBody>
      </p:sp>
      <p:sp>
        <p:nvSpPr>
          <p:cNvPr id="22" name="Shape 13"/>
          <p:cNvSpPr/>
          <p:nvPr/>
        </p:nvSpPr>
        <p:spPr>
          <a:xfrm>
            <a:off x="50292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3" name="Image 7" descr="assets/blob-pink-2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4050792"/>
            <a:ext cx="502920" cy="502920"/>
          </a:xfrm>
          <a:prstGeom prst="rect">
            <a:avLst/>
          </a:prstGeom>
        </p:spPr>
      </p:pic>
      <p:pic>
        <p:nvPicPr>
          <p:cNvPr id="2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9770" y="4191610"/>
            <a:ext cx="221285" cy="221285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139903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Relatório mensal de resultados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75895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mês, um relatório com assinantes, receita recorrente, custo de aquisição, cancelamento e caixa. Sem enfeite.</a:t>
            </a:r>
            <a:endParaRPr lang="en-US" sz="1100" dirty="0"/>
          </a:p>
        </p:txBody>
      </p:sp>
      <p:sp>
        <p:nvSpPr>
          <p:cNvPr id="27" name="Shape 16"/>
          <p:cNvSpPr/>
          <p:nvPr/>
        </p:nvSpPr>
        <p:spPr>
          <a:xfrm>
            <a:off x="429768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8" name="Image 9" descr="assets/blob-yellow-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3712" y="4050792"/>
            <a:ext cx="502920" cy="502920"/>
          </a:xfrm>
          <a:prstGeom prst="rect">
            <a:avLst/>
          </a:prstGeom>
        </p:spPr>
      </p:pic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4530" y="4191610"/>
            <a:ext cx="221285" cy="221285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519379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Painel aberto o tempo todo</a:t>
            </a:r>
            <a:endParaRPr lang="en-US" sz="1300" dirty="0"/>
          </a:p>
        </p:txBody>
      </p:sp>
      <p:sp>
        <p:nvSpPr>
          <p:cNvPr id="31" name="Text 18"/>
          <p:cNvSpPr/>
          <p:nvPr/>
        </p:nvSpPr>
        <p:spPr>
          <a:xfrm>
            <a:off x="455371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ao painel de números quando quiser, usando o próprio Cria Caixa na gestão da sociedade.</a:t>
            </a:r>
            <a:endParaRPr lang="en-US" sz="1100" dirty="0"/>
          </a:p>
        </p:txBody>
      </p:sp>
      <p:sp>
        <p:nvSpPr>
          <p:cNvPr id="32" name="Shape 19"/>
          <p:cNvSpPr/>
          <p:nvPr/>
        </p:nvSpPr>
        <p:spPr>
          <a:xfrm>
            <a:off x="8092440" y="3813048"/>
            <a:ext cx="359359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3" name="Image 11" descr="assets/blob-blue-1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48472" y="4050792"/>
            <a:ext cx="502920" cy="502920"/>
          </a:xfrm>
          <a:prstGeom prst="rect">
            <a:avLst/>
          </a:prstGeom>
        </p:spPr>
      </p:pic>
      <p:pic>
        <p:nvPicPr>
          <p:cNvPr id="34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9290" y="4191610"/>
            <a:ext cx="221285" cy="221285"/>
          </a:xfrm>
          <a:prstGeom prst="rect">
            <a:avLst/>
          </a:prstGeom>
        </p:spPr>
      </p:pic>
      <p:sp>
        <p:nvSpPr>
          <p:cNvPr id="35" name="Text 20"/>
          <p:cNvSpPr/>
          <p:nvPr/>
        </p:nvSpPr>
        <p:spPr>
          <a:xfrm>
            <a:off x="8988552" y="4087368"/>
            <a:ext cx="2496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Reunião de prestação de contas</a:t>
            </a:r>
            <a:endParaRPr lang="en-US" sz="1300" dirty="0"/>
          </a:p>
        </p:txBody>
      </p:sp>
      <p:sp>
        <p:nvSpPr>
          <p:cNvPr id="36" name="Text 21"/>
          <p:cNvSpPr/>
          <p:nvPr/>
        </p:nvSpPr>
        <p:spPr>
          <a:xfrm>
            <a:off x="8348472" y="4745736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Encontro a cada trimestre para revisar resultados, decidir a verba do período e o que priorizar.</a:t>
            </a:r>
            <a:endParaRPr lang="en-US" sz="1100" dirty="0"/>
          </a:p>
        </p:txBody>
      </p:sp>
      <p:sp>
        <p:nvSpPr>
          <p:cNvPr id="37" name="Shape 22"/>
          <p:cNvSpPr/>
          <p:nvPr/>
        </p:nvSpPr>
        <p:spPr>
          <a:xfrm>
            <a:off x="502920" y="5806440"/>
            <a:ext cx="11183112" cy="685800"/>
          </a:xfrm>
          <a:prstGeom prst="roundRect">
            <a:avLst>
              <a:gd name="adj" fmla="val 1866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8" name="Text 23"/>
          <p:cNvSpPr/>
          <p:nvPr/>
        </p:nvSpPr>
        <p:spPr>
          <a:xfrm>
            <a:off x="868680" y="59161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entra com o capital. Eu entro com o produto, a execução e a prestação de contas.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não é favor, é parte do acordo.</a:t>
            </a:r>
            <a:endParaRPr lang="en-US" sz="1300" dirty="0"/>
          </a:p>
        </p:txBody>
      </p:sp>
      <p:sp>
        <p:nvSpPr>
          <p:cNvPr id="39" name="Text 24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40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280160" y="-1188720"/>
            <a:ext cx="2011680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DO INVESTIDOR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Como os R$ 250 mil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voltam (e multiplicam)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91640"/>
            <a:ext cx="548640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8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20240"/>
            <a:ext cx="548640" cy="54864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" y="2073859"/>
            <a:ext cx="241402" cy="24140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08760" y="199339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Caminho 1 · Lucro distribuído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804672" y="254203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operação passa a dar lucro por volta do mês 5. No ano 2, a fatia de 20% recebe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~R$ 66 mil/ano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distribuição de lucros (cenário base).
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 só por lucros: ~3,5 anos, sem contar a valorização.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6199632" y="1691640"/>
            <a:ext cx="548640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3" name="Image 3" descr="assets/blob-blue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1920240"/>
            <a:ext cx="548640" cy="548640"/>
          </a:xfrm>
          <a:prstGeom prst="rect">
            <a:avLst/>
          </a:prstGeom>
        </p:spPr>
      </p:pic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003" y="2073859"/>
            <a:ext cx="241402" cy="241402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205472" y="19933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Caminho 2 · Valorização da participação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6501384" y="2542032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é avaliado por múltiplo da receita anual (usamos 3×, conservador; o mercado paga 3 a 5×).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o que a fatia valeria numa venda ou nova rodada de investimento.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502920" y="4206240"/>
            <a:ext cx="740664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822960" y="4389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4206240" y="4389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do ano 1</a:t>
            </a:r>
            <a:endParaRPr lang="en-US" sz="1200" dirty="0"/>
          </a:p>
        </p:txBody>
      </p:sp>
      <p:sp>
        <p:nvSpPr>
          <p:cNvPr id="20" name="Text 13"/>
          <p:cNvSpPr/>
          <p:nvPr/>
        </p:nvSpPr>
        <p:spPr>
          <a:xfrm>
            <a:off x="6035040" y="43891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 do ano 2</a:t>
            </a:r>
            <a:endParaRPr lang="en-US" sz="1200" dirty="0"/>
          </a:p>
        </p:txBody>
      </p:sp>
      <p:sp>
        <p:nvSpPr>
          <p:cNvPr id="21" name="Text 14"/>
          <p:cNvSpPr/>
          <p:nvPr/>
        </p:nvSpPr>
        <p:spPr>
          <a:xfrm>
            <a:off x="822960" y="477316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anualizada (ARR)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4206240" y="47731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R$ 735 mil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035040" y="477316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R$ 1,13 milhão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822960" y="51572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negócio (3× ARR)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4206240" y="51572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R$ 2,2 milhões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6035040" y="515721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R$ 3,4 milhões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822960" y="554126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da fatia de 20%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206240" y="55412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R$ 441 mil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6035040" y="554126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R$ 680 mil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822960" y="59253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Multiplicação do aporte</a:t>
            </a:r>
            <a:endParaRPr lang="en-US" sz="1200" dirty="0"/>
          </a:p>
        </p:txBody>
      </p:sp>
      <p:sp>
        <p:nvSpPr>
          <p:cNvPr id="31" name="Text 24"/>
          <p:cNvSpPr/>
          <p:nvPr/>
        </p:nvSpPr>
        <p:spPr>
          <a:xfrm>
            <a:off x="4206240" y="59253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1,8×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6035040" y="592531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2,7×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092440" y="4206240"/>
            <a:ext cx="3593592" cy="2240280"/>
          </a:xfrm>
          <a:prstGeom prst="roundRect">
            <a:avLst>
              <a:gd name="adj" fmla="val 5714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4" name="Text 27"/>
          <p:cNvSpPr/>
          <p:nvPr/>
        </p:nvSpPr>
        <p:spPr>
          <a:xfrm>
            <a:off x="8366760" y="43891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Em bom português:</a:t>
            </a:r>
            <a:endParaRPr lang="en-US" sz="1300" dirty="0"/>
          </a:p>
        </p:txBody>
      </p:sp>
      <p:sp>
        <p:nvSpPr>
          <p:cNvPr id="35" name="Text 28"/>
          <p:cNvSpPr/>
          <p:nvPr/>
        </p:nvSpPr>
        <p:spPr>
          <a:xfrm>
            <a:off x="8366760" y="4828032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R$ 1 investido deve valer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R$ 2,70 em dois anos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ainda recebendo lucro todo ano.
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pior cenário mapeado: ~1,7×.</a:t>
            </a:r>
            <a:endParaRPr lang="en-US" sz="1250" dirty="0"/>
          </a:p>
        </p:txBody>
      </p:sp>
      <p:sp>
        <p:nvSpPr>
          <p:cNvPr id="36" name="Text 29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298551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25740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RETORNO, DESTRINCHADO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caminho dos R$ 250 mil, </a:t>
            </a:r>
            <a:pPr indent="0" marL="0">
              <a:buNone/>
            </a:pPr>
            <a:r>
              <a:rPr lang="en-US" sz="29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a ano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02920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85800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Hoje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− R$ 250 mil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85800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aporte entra e vira máquina de aquisição.</a:t>
            </a:r>
            <a:endParaRPr lang="en-US" sz="980" dirty="0"/>
          </a:p>
        </p:txBody>
      </p:sp>
      <p:sp>
        <p:nvSpPr>
          <p:cNvPr id="11" name="Text 8"/>
          <p:cNvSpPr/>
          <p:nvPr/>
        </p:nvSpPr>
        <p:spPr>
          <a:xfrm>
            <a:off x="685800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de 20% da sociedade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596896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761488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2944368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1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944368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recebe ~R$ 0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2944368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propósito: todo lucro é reinvestido pra crescer mais rápido.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2944368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já vale ~R$ 441 mil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855464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020056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02936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2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202936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R$ 66 mil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5202936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a distribuição de lucros (total recebido: R$ 69 mil).</a:t>
            </a:r>
            <a:endParaRPr lang="en-US" sz="980" dirty="0"/>
          </a:p>
        </p:txBody>
      </p:sp>
      <p:sp>
        <p:nvSpPr>
          <p:cNvPr id="23" name="Text 20"/>
          <p:cNvSpPr/>
          <p:nvPr/>
        </p:nvSpPr>
        <p:spPr>
          <a:xfrm>
            <a:off x="5202936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~R$ 680 mil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114032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278624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461504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3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7461504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R$ 107 mil</a:t>
            </a:r>
            <a:endParaRPr lang="en-US" sz="1650" dirty="0"/>
          </a:p>
        </p:txBody>
      </p:sp>
      <p:sp>
        <p:nvSpPr>
          <p:cNvPr id="28" name="Text 25"/>
          <p:cNvSpPr/>
          <p:nvPr/>
        </p:nvSpPr>
        <p:spPr>
          <a:xfrm>
            <a:off x="7461504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cresce com a base (total recebido: R$ 176 mil).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7461504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~R$ 809 mil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9372600" y="26060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635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9537192" y="1645920"/>
            <a:ext cx="2148840" cy="2514600"/>
          </a:xfrm>
          <a:prstGeom prst="roundRect">
            <a:avLst>
              <a:gd name="adj" fmla="val 5957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9720072" y="181051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Ano 4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720072" y="213969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2C21E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R$ 129 mil</a:t>
            </a:r>
            <a:endParaRPr lang="en-US" sz="1650" dirty="0"/>
          </a:p>
        </p:txBody>
      </p:sp>
      <p:sp>
        <p:nvSpPr>
          <p:cNvPr id="34" name="Text 31"/>
          <p:cNvSpPr/>
          <p:nvPr/>
        </p:nvSpPr>
        <p:spPr>
          <a:xfrm>
            <a:off x="9720072" y="265176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recebido: R$ 305 mil. Aporte de volta, em dinheiro. ✓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9720072" y="3639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b="1" dirty="0">
                <a:solidFill>
                  <a:srgbClr val="C9C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Fatia ~R$ 878 mil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2920" y="4343400"/>
            <a:ext cx="11183112" cy="713232"/>
          </a:xfrm>
          <a:prstGeom prst="roundRect">
            <a:avLst>
              <a:gd name="adj" fmla="val 17949"/>
            </a:avLst>
          </a:prstGeom>
          <a:solidFill>
            <a:srgbClr val="E9E2D2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868680" y="4453128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em ~3 anos e meio ele recupera os R$ 250 mil em dinheiro vivo,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continua dono de 20% de um negócio de ~R$ 4,4 milhões, que segue pagando ~R$ 130-140 mil por ano. Dali em diante é só retorno.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521208" y="513892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 quando ele quiser transformar a fatia em dinheiro? 3 portas: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02920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0" name="Image 1" descr="assets/blob-green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5632704"/>
            <a:ext cx="384048" cy="38404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530352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161288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Ficar sócio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1161288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a parte dele do lucro todo ano, crescendo junto com a base. Renda sem prazo de validade.</a:t>
            </a:r>
            <a:endParaRPr lang="en-US" sz="880" dirty="0"/>
          </a:p>
        </p:txBody>
      </p:sp>
      <p:sp>
        <p:nvSpPr>
          <p:cNvPr id="44" name="Shape 40"/>
          <p:cNvSpPr/>
          <p:nvPr/>
        </p:nvSpPr>
        <p:spPr>
          <a:xfrm>
            <a:off x="4288536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45" name="Image 2" descr="assets/blob-blue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5632704"/>
            <a:ext cx="384048" cy="38404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4315968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2"/>
          <p:cNvSpPr/>
          <p:nvPr/>
        </p:nvSpPr>
        <p:spPr>
          <a:xfrm>
            <a:off x="4946904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Vender a fatia</a:t>
            </a:r>
            <a:endParaRPr lang="en-US" sz="1150" dirty="0"/>
          </a:p>
        </p:txBody>
      </p:sp>
      <p:sp>
        <p:nvSpPr>
          <p:cNvPr id="48" name="Text 43"/>
          <p:cNvSpPr/>
          <p:nvPr/>
        </p:nvSpPr>
        <p:spPr>
          <a:xfrm>
            <a:off x="4946904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um novo investidor, numa rodada futura ou de volta pra própria empresa (recompra), a valor de mercado.</a:t>
            </a:r>
            <a:endParaRPr lang="en-US" sz="880" dirty="0"/>
          </a:p>
        </p:txBody>
      </p:sp>
      <p:sp>
        <p:nvSpPr>
          <p:cNvPr id="49" name="Shape 44"/>
          <p:cNvSpPr/>
          <p:nvPr/>
        </p:nvSpPr>
        <p:spPr>
          <a:xfrm>
            <a:off x="8074152" y="5486400"/>
            <a:ext cx="3611880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50" name="Image 3" descr="assets/blob-orange-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5632704"/>
            <a:ext cx="384048" cy="384048"/>
          </a:xfrm>
          <a:prstGeom prst="rect">
            <a:avLst/>
          </a:prstGeom>
        </p:spPr>
      </p:pic>
      <p:sp>
        <p:nvSpPr>
          <p:cNvPr id="51" name="Text 45"/>
          <p:cNvSpPr/>
          <p:nvPr/>
        </p:nvSpPr>
        <p:spPr>
          <a:xfrm>
            <a:off x="8101584" y="5632704"/>
            <a:ext cx="658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8732520" y="55595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Venda da empresa</a:t>
            </a:r>
            <a:endParaRPr lang="en-US" sz="1150" dirty="0"/>
          </a:p>
        </p:txBody>
      </p:sp>
      <p:sp>
        <p:nvSpPr>
          <p:cNvPr id="53" name="Text 47"/>
          <p:cNvSpPr/>
          <p:nvPr/>
        </p:nvSpPr>
        <p:spPr>
          <a:xfrm>
            <a:off x="8732520" y="583387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8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negócio for vendido, ele sai junto, nas mesmas condições (direito de tag along garantido em contrato).</a:t>
            </a:r>
            <a:endParaRPr lang="en-US" sz="880" dirty="0"/>
          </a:p>
        </p:txBody>
      </p:sp>
      <p:sp>
        <p:nvSpPr>
          <p:cNvPr id="54" name="Text 4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55" name="Text 4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green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84280" y="-960120"/>
            <a:ext cx="1828800" cy="18288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274320"/>
            <a:ext cx="3826764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2"/>
          <p:cNvSpPr/>
          <p:nvPr/>
        </p:nvSpPr>
        <p:spPr>
          <a:xfrm>
            <a:off x="896112" y="283464"/>
            <a:ext cx="34152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· HORIZONTE DE 5 ANOS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Base crescendo, renda crescendo, </a:t>
            </a:r>
            <a:pPr indent="0" marL="0">
              <a:buNone/>
            </a:pPr>
            <a:r>
              <a:rPr lang="en-US" sz="2700" b="1" dirty="0">
                <a:solidFill>
                  <a:srgbClr val="3E915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risco caindo</a:t>
            </a:r>
            <a:endParaRPr lang="en-US" sz="2700" dirty="0"/>
          </a:p>
        </p:txBody>
      </p:sp>
      <p:sp>
        <p:nvSpPr>
          <p:cNvPr id="7" name="Shape 4"/>
          <p:cNvSpPr/>
          <p:nvPr/>
        </p:nvSpPr>
        <p:spPr>
          <a:xfrm>
            <a:off x="502920" y="1600200"/>
            <a:ext cx="553212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Assinantes (barras) × renda mensal dele (linha)</a:t>
            </a:r>
            <a:endParaRPr lang="en-US" sz="12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2103120"/>
          <a:ext cx="5212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7772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R$ 0 a ~R$ 12 mil/mês de renda recorrente, sem vender nada.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45352" y="1600200"/>
            <a:ext cx="5440680" cy="3977640"/>
          </a:xfrm>
          <a:prstGeom prst="roundRect">
            <a:avLst>
              <a:gd name="adj" fmla="val 32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519672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Posição líquida dele: aporte + tudo que já recebeu</a:t>
            </a:r>
            <a:endParaRPr lang="en-US" sz="1250" dirty="0"/>
          </a:p>
        </p:txBody>
      </p:sp>
      <p:graphicFrame>
        <p:nvGraphicFramePr>
          <p:cNvPr id="13" name="Chart 1" descr=""/>
          <p:cNvGraphicFramePr/>
          <p:nvPr/>
        </p:nvGraphicFramePr>
        <p:xfrm>
          <a:off x="6428232" y="2103120"/>
          <a:ext cx="51206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 9"/>
          <p:cNvSpPr/>
          <p:nvPr/>
        </p:nvSpPr>
        <p:spPr>
          <a:xfrm rot="-180000">
            <a:off x="8961120" y="3703320"/>
            <a:ext cx="1965960" cy="457200"/>
          </a:xfrm>
          <a:prstGeom prst="roundRect">
            <a:avLst>
              <a:gd name="adj" fmla="val 50000"/>
            </a:avLst>
          </a:prstGeom>
          <a:solidFill>
            <a:srgbClr val="F2C21E"/>
          </a:solidFill>
          <a:ln/>
          <a:effectLst>
            <a:outerShdw sx="100000" sy="100000" kx="0" ky="0" algn="bl" rotWithShape="0" blurRad="76200" dist="25400" dir="5400000">
              <a:srgbClr val="3A3225">
                <a:alpha val="16000"/>
              </a:srgbClr>
            </a:outerShdw>
          </a:effectLst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mês 44: risco zerado ✓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6519672" y="5120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 em −R$ 250 mil, zera no mês 44 e termina o ano 5 em +R$ 193 mil. Dali em diante, só aumenta.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2920" y="5760720"/>
            <a:ext cx="11183112" cy="777240"/>
          </a:xfrm>
          <a:prstGeom prst="roundRect">
            <a:avLst>
              <a:gd name="adj" fmla="val 16471"/>
            </a:avLst>
          </a:prstGeom>
          <a:solidFill>
            <a:srgbClr val="17140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68680" y="58887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2C2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mês 44 o jogo muda: risco zero, renda de ~R$ 12 mil/mês crescendo,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fatia de 20% (~R$ 916 mil no ano 5) é patrimônio à parte. Se a verba subir de nível, tudo isso sobe junto.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8560" y="-1005840"/>
            <a:ext cx="1920240" cy="1920240"/>
          </a:xfrm>
          <a:prstGeom prst="rect">
            <a:avLst/>
          </a:prstGeom>
        </p:spPr>
      </p:pic>
      <p:pic>
        <p:nvPicPr>
          <p:cNvPr id="3" name="Image 1" descr="assets/blob-blu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4440" y="5623560"/>
            <a:ext cx="1645920" cy="1645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02920" y="274320"/>
            <a:ext cx="3511296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2A4BDF"/>
          </a:solidFill>
          <a:ln/>
        </p:spPr>
      </p:sp>
      <p:sp>
        <p:nvSpPr>
          <p:cNvPr id="6" name="Text 2"/>
          <p:cNvSpPr/>
          <p:nvPr/>
        </p:nvSpPr>
        <p:spPr>
          <a:xfrm>
            <a:off x="896112" y="283464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PROTEGE O INVESTIMENTO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Risco </a:t>
            </a:r>
            <a:pPr indent="0" marL="0">
              <a:buNone/>
            </a:pPr>
            <a:r>
              <a:rPr lang="en-US" sz="2900" b="1" dirty="0">
                <a:solidFill>
                  <a:srgbClr val="2A4BD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controlado</a:t>
            </a:r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por desenho</a:t>
            </a:r>
            <a:endParaRPr lang="en-US" sz="2900" dirty="0"/>
          </a:p>
        </p:txBody>
      </p:sp>
      <p:sp>
        <p:nvSpPr>
          <p:cNvPr id="8" name="Shape 4"/>
          <p:cNvSpPr/>
          <p:nvPr/>
        </p:nvSpPr>
        <p:spPr>
          <a:xfrm>
            <a:off x="50292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9" name="Image 2" descr="assets/blob-green-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975104"/>
            <a:ext cx="548640" cy="548640"/>
          </a:xfrm>
          <a:prstGeom prst="rect">
            <a:avLst/>
          </a:prstGeom>
        </p:spPr>
      </p:pic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571" y="2128723"/>
            <a:ext cx="241402" cy="24140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46304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 maior risco já passou</a:t>
            </a:r>
            <a:endParaRPr lang="en-US" sz="1350" dirty="0"/>
          </a:p>
        </p:txBody>
      </p:sp>
      <p:sp>
        <p:nvSpPr>
          <p:cNvPr id="12" name="Text 6"/>
          <p:cNvSpPr/>
          <p:nvPr/>
        </p:nvSpPr>
        <p:spPr>
          <a:xfrm>
            <a:off x="75895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o produto é onde startups morrem. Os dois estão prontos, no ar e cobrando.</a:t>
            </a:r>
            <a:endParaRPr lang="en-US" sz="1150" dirty="0"/>
          </a:p>
        </p:txBody>
      </p:sp>
      <p:sp>
        <p:nvSpPr>
          <p:cNvPr id="13" name="Shape 7"/>
          <p:cNvSpPr/>
          <p:nvPr/>
        </p:nvSpPr>
        <p:spPr>
          <a:xfrm>
            <a:off x="429768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4" name="Image 4" descr="assets/blob-orange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1975104"/>
            <a:ext cx="548640" cy="54864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7331" y="2128723"/>
            <a:ext cx="241402" cy="241402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525780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Aporte por etapas</a:t>
            </a:r>
            <a:endParaRPr lang="en-US" sz="1350" dirty="0"/>
          </a:p>
        </p:txBody>
      </p:sp>
      <p:sp>
        <p:nvSpPr>
          <p:cNvPr id="17" name="Text 9"/>
          <p:cNvSpPr/>
          <p:nvPr/>
        </p:nvSpPr>
        <p:spPr>
          <a:xfrm>
            <a:off x="455371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preferir, o dinheiro entra em 3 tranches ligadas a metas. Só avança se o resultado aparecer.</a:t>
            </a:r>
            <a:endParaRPr lang="en-US" sz="1150" dirty="0"/>
          </a:p>
        </p:txBody>
      </p:sp>
      <p:sp>
        <p:nvSpPr>
          <p:cNvPr id="18" name="Shape 10"/>
          <p:cNvSpPr/>
          <p:nvPr/>
        </p:nvSpPr>
        <p:spPr>
          <a:xfrm>
            <a:off x="8092440" y="1737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9" name="Image 6" descr="assets/blob-blue-2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472" y="1975104"/>
            <a:ext cx="548640" cy="548640"/>
          </a:xfrm>
          <a:prstGeom prst="rect">
            <a:avLst/>
          </a:prstGeom>
        </p:spPr>
      </p:pic>
      <p:pic>
        <p:nvPicPr>
          <p:cNvPr id="2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2091" y="2128723"/>
            <a:ext cx="241402" cy="241402"/>
          </a:xfrm>
          <a:prstGeom prst="rect">
            <a:avLst/>
          </a:prstGeom>
        </p:spPr>
      </p:pic>
      <p:sp>
        <p:nvSpPr>
          <p:cNvPr id="21" name="Text 11"/>
          <p:cNvSpPr/>
          <p:nvPr/>
        </p:nvSpPr>
        <p:spPr>
          <a:xfrm>
            <a:off x="9052560" y="2029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Transparência de verdade</a:t>
            </a:r>
            <a:endParaRPr lang="en-US" sz="1350" dirty="0"/>
          </a:p>
        </p:txBody>
      </p:sp>
      <p:sp>
        <p:nvSpPr>
          <p:cNvPr id="22" name="Text 12"/>
          <p:cNvSpPr/>
          <p:nvPr/>
        </p:nvSpPr>
        <p:spPr>
          <a:xfrm>
            <a:off x="8348472" y="2724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aberto com MRR, CAC e churn todo mês, usando o próprio Cria Caixa na gestão da sociedade.</a:t>
            </a:r>
            <a:endParaRPr lang="en-US" sz="1150" dirty="0"/>
          </a:p>
        </p:txBody>
      </p:sp>
      <p:sp>
        <p:nvSpPr>
          <p:cNvPr id="23" name="Shape 13"/>
          <p:cNvSpPr/>
          <p:nvPr/>
        </p:nvSpPr>
        <p:spPr>
          <a:xfrm>
            <a:off x="50292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4" name="Image 8" descr="assets/blob-pink-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8952" y="4261104"/>
            <a:ext cx="548640" cy="548640"/>
          </a:xfrm>
          <a:prstGeom prst="rect">
            <a:avLst/>
          </a:prstGeom>
        </p:spPr>
      </p:pic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571" y="4414723"/>
            <a:ext cx="241402" cy="241402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146304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Custo fixo mínimo</a:t>
            </a:r>
            <a:endParaRPr lang="en-US" sz="1350" dirty="0"/>
          </a:p>
        </p:txBody>
      </p:sp>
      <p:sp>
        <p:nvSpPr>
          <p:cNvPr id="27" name="Text 15"/>
          <p:cNvSpPr/>
          <p:nvPr/>
        </p:nvSpPr>
        <p:spPr>
          <a:xfrm>
            <a:off x="75895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escritório, sem folha pesada. Quase todo real é variável e vai pra aquisição de clientes.</a:t>
            </a:r>
            <a:endParaRPr lang="en-US" sz="1150" dirty="0"/>
          </a:p>
        </p:txBody>
      </p:sp>
      <p:sp>
        <p:nvSpPr>
          <p:cNvPr id="28" name="Shape 16"/>
          <p:cNvSpPr/>
          <p:nvPr/>
        </p:nvSpPr>
        <p:spPr>
          <a:xfrm>
            <a:off x="429768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9" name="Image 10" descr="assets/blob-yellow-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3712" y="4261104"/>
            <a:ext cx="548640" cy="548640"/>
          </a:xfrm>
          <a:prstGeom prst="rect">
            <a:avLst/>
          </a:prstGeom>
        </p:spPr>
      </p:pic>
      <p:pic>
        <p:nvPicPr>
          <p:cNvPr id="3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07331" y="4414723"/>
            <a:ext cx="241402" cy="241402"/>
          </a:xfrm>
          <a:prstGeom prst="rect">
            <a:avLst/>
          </a:prstGeom>
        </p:spPr>
      </p:pic>
      <p:sp>
        <p:nvSpPr>
          <p:cNvPr id="31" name="Text 17"/>
          <p:cNvSpPr/>
          <p:nvPr/>
        </p:nvSpPr>
        <p:spPr>
          <a:xfrm>
            <a:off x="525780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Dois motores independentes</a:t>
            </a:r>
            <a:endParaRPr lang="en-US" sz="1350" dirty="0"/>
          </a:p>
        </p:txBody>
      </p:sp>
      <p:sp>
        <p:nvSpPr>
          <p:cNvPr id="32" name="Text 18"/>
          <p:cNvSpPr/>
          <p:nvPr/>
        </p:nvSpPr>
        <p:spPr>
          <a:xfrm>
            <a:off x="455371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um patinar, o outro segue. A verba realoca entre CRIA e Atlas conforme a resposta do mercado.</a:t>
            </a:r>
            <a:endParaRPr lang="en-US" sz="1150" dirty="0"/>
          </a:p>
        </p:txBody>
      </p:sp>
      <p:sp>
        <p:nvSpPr>
          <p:cNvPr id="33" name="Shape 19"/>
          <p:cNvSpPr/>
          <p:nvPr/>
        </p:nvSpPr>
        <p:spPr>
          <a:xfrm>
            <a:off x="8092440" y="4023360"/>
            <a:ext cx="3593592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34" name="Image 12" descr="assets/blob-green-0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48472" y="4261104"/>
            <a:ext cx="548640" cy="548640"/>
          </a:xfrm>
          <a:prstGeom prst="rect">
            <a:avLst/>
          </a:prstGeom>
        </p:spPr>
      </p:pic>
      <p:pic>
        <p:nvPicPr>
          <p:cNvPr id="3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02091" y="4414723"/>
            <a:ext cx="241402" cy="241402"/>
          </a:xfrm>
          <a:prstGeom prst="rect">
            <a:avLst/>
          </a:prstGeom>
        </p:spPr>
      </p:pic>
      <p:sp>
        <p:nvSpPr>
          <p:cNvPr id="36" name="Text 20"/>
          <p:cNvSpPr/>
          <p:nvPr/>
        </p:nvSpPr>
        <p:spPr>
          <a:xfrm>
            <a:off x="9052560" y="4315968"/>
            <a:ext cx="24048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Margem pra errar</a:t>
            </a:r>
            <a:endParaRPr lang="en-US" sz="1350" dirty="0"/>
          </a:p>
        </p:txBody>
      </p:sp>
      <p:sp>
        <p:nvSpPr>
          <p:cNvPr id="37" name="Text 21"/>
          <p:cNvSpPr/>
          <p:nvPr/>
        </p:nvSpPr>
        <p:spPr>
          <a:xfrm>
            <a:off x="8348472" y="5010912"/>
            <a:ext cx="30815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LTV/CAC de 13×, mesmo errando o CAC em 2× a operação continua lucrativa (7×).</a:t>
            </a:r>
            <a:endParaRPr lang="en-US" sz="1150" dirty="0"/>
          </a:p>
        </p:txBody>
      </p:sp>
      <p:sp>
        <p:nvSpPr>
          <p:cNvPr id="38" name="Text 22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39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yello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371600" y="-1371600"/>
            <a:ext cx="2743200" cy="2743200"/>
          </a:xfrm>
          <a:prstGeom prst="rect">
            <a:avLst/>
          </a:prstGeom>
        </p:spPr>
      </p:pic>
      <p:pic>
        <p:nvPicPr>
          <p:cNvPr id="3" name="Image 1" descr="assets/blob-pink-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5120640"/>
            <a:ext cx="2560320" cy="25603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247120" y="1051560"/>
            <a:ext cx="384048" cy="38404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Shape 1"/>
          <p:cNvSpPr/>
          <p:nvPr/>
        </p:nvSpPr>
        <p:spPr>
          <a:xfrm>
            <a:off x="502920" y="274320"/>
            <a:ext cx="2144268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3A3225">
                <a:alpha val="10000"/>
              </a:srgbClr>
            </a:outerShdw>
          </a:effectLst>
        </p:spPr>
      </p:sp>
      <p:sp>
        <p:nvSpPr>
          <p:cNvPr id="6" name="Shape 2"/>
          <p:cNvSpPr/>
          <p:nvPr/>
        </p:nvSpPr>
        <p:spPr>
          <a:xfrm>
            <a:off x="658368" y="393192"/>
            <a:ext cx="146304" cy="146304"/>
          </a:xfrm>
          <a:prstGeom prst="ellipse">
            <a:avLst/>
          </a:prstGeom>
          <a:solidFill>
            <a:srgbClr val="F2C21E"/>
          </a:solidFill>
          <a:ln/>
        </p:spPr>
      </p:sp>
      <p:sp>
        <p:nvSpPr>
          <p:cNvPr id="7" name="Text 3"/>
          <p:cNvSpPr/>
          <p:nvPr/>
        </p:nvSpPr>
        <p:spPr>
          <a:xfrm>
            <a:off x="896112" y="283464"/>
            <a:ext cx="1732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FECHAR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02920" y="74980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Isso aqui, pra mim, </a:t>
            </a:r>
            <a:pPr indent="0" marL="0">
              <a:buNone/>
            </a:pPr>
            <a:r>
              <a:rPr lang="en-US" sz="29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um sonho</a:t>
            </a:r>
            <a:endParaRPr lang="en-US" sz="2900" dirty="0"/>
          </a:p>
        </p:txBody>
      </p:sp>
      <p:sp>
        <p:nvSpPr>
          <p:cNvPr id="9" name="Shape 5"/>
          <p:cNvSpPr/>
          <p:nvPr/>
        </p:nvSpPr>
        <p:spPr>
          <a:xfrm>
            <a:off x="1234440" y="1783080"/>
            <a:ext cx="9692640" cy="3794760"/>
          </a:xfrm>
          <a:prstGeom prst="roundRect">
            <a:avLst>
              <a:gd name="adj" fmla="val 3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1691640" y="2148840"/>
            <a:ext cx="877824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Márcio, obrigado pela oportunidade de sentar e apresentar esse projeto pra você.
</a:t>
            </a:r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CRIA e o Atlas não são só dois sistemas que eu construí. São anos de trabalho, de noites viradas e de acreditar em uma coisa que ainda não existia. Cada tela que você viu hoje começou com um problema real que eu vivi ou vi alguém perto de mim viver.
</a:t>
            </a:r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CE4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o que eu faço, eu coloco Deus na frente. </a:t>
            </a:r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eu acredito que a palavra já me abençoou nesse caminho, que as portas se abrem na hora certa e que esse projeto vai dar certo.
</a:t>
            </a:r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você chegou até aqui e se interessou, eu acredito que Deus tocou no seu coração </a:t>
            </a:r>
            <a:pPr indent="0" marL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fazer parte disso e cumprir aquilo que Ele tem preparado. Que seja uma sociedade abençoada, com trabalho honesto e resultado pros dois lados.</a:t>
            </a:r>
            <a:endParaRPr lang="en-US" sz="1400" dirty="0"/>
          </a:p>
        </p:txBody>
      </p:sp>
      <p:pic>
        <p:nvPicPr>
          <p:cNvPr id="11" name="Image 2" descr="assets/st-semformul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212080"/>
            <a:ext cx="1143000" cy="109401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772400" y="5806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Walter Espindola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50292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 × ATLAS · Proposta de sociedade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EF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lob-pink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63040" y="-1554480"/>
            <a:ext cx="2926080" cy="2926080"/>
          </a:xfrm>
          <a:prstGeom prst="rect">
            <a:avLst/>
          </a:prstGeom>
        </p:spPr>
      </p:pic>
      <p:pic>
        <p:nvPicPr>
          <p:cNvPr id="3" name="Image 1" descr="assets/blob-yellow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4846320"/>
            <a:ext cx="2743200" cy="27432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" y="1463040"/>
            <a:ext cx="384048" cy="384048"/>
          </a:xfrm>
          <a:prstGeom prst="ellipse">
            <a:avLst/>
          </a:prstGeom>
          <a:solidFill>
            <a:srgbClr val="3E9152"/>
          </a:solidFill>
          <a:ln/>
        </p:spPr>
      </p:sp>
      <p:sp>
        <p:nvSpPr>
          <p:cNvPr id="5" name="Text 1"/>
          <p:cNvSpPr/>
          <p:nvPr/>
        </p:nvSpPr>
        <p:spPr>
          <a:xfrm>
            <a:off x="1188720" y="77724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pergunta não é se esses mercados vão explodir.
</a:t>
            </a:r>
            <a:pPr algn="ctr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É quem vai estar posicionado quando explodirem.</a:t>
            </a:r>
            <a:endParaRPr lang="en-US" sz="2400" dirty="0"/>
          </a:p>
        </p:txBody>
      </p:sp>
      <p:sp>
        <p:nvSpPr>
          <p:cNvPr id="6" name="Shape 2"/>
          <p:cNvSpPr/>
          <p:nvPr/>
        </p:nvSpPr>
        <p:spPr>
          <a:xfrm>
            <a:off x="731520" y="251460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7" name="Image 2" descr="assets/blob-yellow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2743200"/>
            <a:ext cx="502920" cy="50292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50392" y="27432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987552" y="33832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Conversa e ajuste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987552" y="3794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Alinhar valor, formato do aporte e participação</a:t>
            </a: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520440" y="251460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2" name="Image 3" descr="assets/blob-yellow-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6472" y="2743200"/>
            <a:ext cx="502920" cy="5029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3639312" y="27432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8"/>
          <p:cNvSpPr/>
          <p:nvPr/>
        </p:nvSpPr>
        <p:spPr>
          <a:xfrm>
            <a:off x="3776472" y="33832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Acordo de sociedade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3776472" y="3794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com metas, regras e transparência definidas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6309360" y="251460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17" name="Image 4" descr="assets/blob-yellow-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5392" y="274320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28232" y="27432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2"/>
          <p:cNvSpPr/>
          <p:nvPr/>
        </p:nvSpPr>
        <p:spPr>
          <a:xfrm>
            <a:off x="6565392" y="33832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Primeira parcela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6565392" y="3794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 inicial + registro das marcas no INPI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9098280" y="2514600"/>
            <a:ext cx="260604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3A3225">
                <a:alpha val="13000"/>
              </a:srgbClr>
            </a:outerShdw>
          </a:effectLst>
        </p:spPr>
      </p:sp>
      <p:pic>
        <p:nvPicPr>
          <p:cNvPr id="22" name="Image 5" descr="assets/blob-yellow-0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4312" y="2743200"/>
            <a:ext cx="502920" cy="50292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9217152" y="2743200"/>
            <a:ext cx="777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16"/>
          <p:cNvSpPr/>
          <p:nvPr/>
        </p:nvSpPr>
        <p:spPr>
          <a:xfrm>
            <a:off x="9354312" y="33832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140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Tráfego no ar</a:t>
            </a:r>
            <a:endParaRPr lang="en-US" sz="1400" dirty="0"/>
          </a:p>
        </p:txBody>
      </p:sp>
      <p:sp>
        <p:nvSpPr>
          <p:cNvPr id="25" name="Text 17"/>
          <p:cNvSpPr/>
          <p:nvPr/>
        </p:nvSpPr>
        <p:spPr>
          <a:xfrm>
            <a:off x="9354312" y="379476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aquisição rodando em até 30 dias</a:t>
            </a:r>
            <a:endParaRPr lang="en-US" sz="1100" dirty="0"/>
          </a:p>
        </p:txBody>
      </p:sp>
      <p:pic>
        <p:nvPicPr>
          <p:cNvPr id="26" name="Image 6" descr="assets/logo-cri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80" y="4983480"/>
            <a:ext cx="1691640" cy="932688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035040" y="512064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E4A1D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×</a:t>
            </a:r>
            <a:endParaRPr lang="en-US" sz="3000" dirty="0"/>
          </a:p>
        </p:txBody>
      </p:sp>
      <p:pic>
        <p:nvPicPr>
          <p:cNvPr id="28" name="Image 7" descr="assets/logo-atla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4828032"/>
            <a:ext cx="1234440" cy="1234440"/>
          </a:xfrm>
          <a:prstGeom prst="rect">
            <a:avLst/>
          </a:prstGeom>
        </p:spPr>
      </p:pic>
      <p:pic>
        <p:nvPicPr>
          <p:cNvPr id="29" name="Image 8" descr="assets/st-cluazu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60" y="4846320"/>
            <a:ext cx="1188720" cy="1188720"/>
          </a:xfrm>
          <a:prstGeom prst="rect">
            <a:avLst/>
          </a:prstGeom>
        </p:spPr>
      </p:pic>
      <p:pic>
        <p:nvPicPr>
          <p:cNvPr id="30" name="Image 9" descr="assets/st-semformul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61320" y="502920"/>
            <a:ext cx="1234440" cy="1181535"/>
          </a:xfrm>
          <a:prstGeom prst="rect">
            <a:avLst/>
          </a:prstGeom>
        </p:spPr>
      </p:pic>
      <p:pic>
        <p:nvPicPr>
          <p:cNvPr id="31" name="Image 10" descr="assets/st-mochil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35640" y="5074920"/>
            <a:ext cx="1143000" cy="1242391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3840480" y="6263640"/>
            <a:ext cx="450799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3A3225">
                <a:alpha val="12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1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Walter Espindola · </a:t>
            </a:r>
            <a:pPr algn="ctr" indent="0" marL="0">
              <a:buNone/>
            </a:pPr>
            <a:r>
              <a:rPr lang="en-US" sz="12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walterjoose@gmail.com</a:t>
            </a:r>
            <a:endParaRPr lang="en-US" sz="1200" dirty="0"/>
          </a:p>
        </p:txBody>
      </p:sp>
      <p:sp>
        <p:nvSpPr>
          <p:cNvPr id="33" name="Text 20"/>
          <p:cNvSpPr/>
          <p:nvPr/>
        </p:nvSpPr>
        <p:spPr>
          <a:xfrm>
            <a:off x="9692640" y="6473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3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 · Agosto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2026-08-23T21:44:16Z</dcterms:created>
  <dcterms:modified xsi:type="dcterms:W3CDTF">2026-08-23T21:44:16Z</dcterms:modified>
</cp:coreProperties>
</file>